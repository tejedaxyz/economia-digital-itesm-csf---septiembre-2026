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Isocuanta Q(P,J)=Q̄</c:v>
                </c:pt>
              </c:strCache>
            </c:strRef>
          </c:tx>
          <c:spPr>
            <a:solidFill>
              <a:srgbClr val="5A626C"/>
            </a:solidFill>
            <a:ln w="38100" cap="flat">
              <a:solidFill>
                <a:srgbClr val="5A62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A626C"/>
              </a:solidFill>
              <a:ln w="9525" cap="flat">
                <a:solidFill>
                  <a:srgbClr val="5A626C"/>
                </a:solidFill>
                <a:prstDash val="solid"/>
                <a:round/>
              </a:ln>
              <a:effectLst/>
            </c:spPr>
          </c:marker>
          <c:cat>
            <c:multiLvlStrRef>
              <c:f>Sheet1!$A$2:$A$12</c:f>
              <c:multiLvlStrCache>
                <c:ptCount val="11"/>
                <c:lvl>
                  <c:pt idx="0">
                    <c:v>0.5</c:v>
                  </c:pt>
                  <c:pt idx="1">
                    <c:v>1</c:v>
                  </c:pt>
                  <c:pt idx="2">
                    <c:v>2</c:v>
                  </c:pt>
                  <c:pt idx="3">
                    <c:v>3</c:v>
                  </c:pt>
                  <c:pt idx="4">
                    <c:v>4</c:v>
                  </c:pt>
                  <c:pt idx="5">
                    <c:v>5</c:v>
                  </c:pt>
                  <c:pt idx="6">
                    <c:v>6</c:v>
                  </c:pt>
                  <c:pt idx="7">
                    <c:v>7</c:v>
                  </c:pt>
                  <c:pt idx="8">
                    <c:v>8</c:v>
                  </c:pt>
                  <c:pt idx="9">
                    <c:v>9</c:v>
                  </c:pt>
                  <c:pt idx="10">
                    <c:v>10</c:v>
                  </c:pt>
                </c:lvl>
              </c:multiLvlStrCache>
            </c:multiLvlStrRef>
          </c:cat>
          <c:val>
            <c:numRef>
              <c:f>Sheet1!$B$2:$B$12</c:f>
              <c:numCache>
                <c:formatCode>General</c:formatCode>
                <c:ptCount val="11"/>
                <c:pt idx="0">
                  <c:v>32</c:v>
                </c:pt>
                <c:pt idx="1">
                  <c:v>16</c:v>
                </c:pt>
                <c:pt idx="2">
                  <c:v>8</c:v>
                </c:pt>
                <c:pt idx="3">
                  <c:v>5.333333333333333</c:v>
                </c:pt>
                <c:pt idx="4">
                  <c:v>4</c:v>
                </c:pt>
                <c:pt idx="5">
                  <c:v>3.2</c:v>
                </c:pt>
                <c:pt idx="6">
                  <c:v>2.6666666666666665</c:v>
                </c:pt>
                <c:pt idx="7">
                  <c:v>2.2857142857142856</c:v>
                </c:pt>
                <c:pt idx="8">
                  <c:v>2</c:v>
                </c:pt>
                <c:pt idx="9">
                  <c:v>1.7777777777777777</c:v>
                </c:pt>
                <c:pt idx="10">
                  <c:v>1.6</c:v>
                </c:pt>
              </c:numCache>
            </c:numRef>
          </c:val>
          <c:smooth val="0"/>
        </c:ser>
        <c:ser>
          <c:idx val="1"/>
          <c:order val="1"/>
          <c:tx>
            <c:strRef>
              <c:f>Sheet1!$C$1</c:f>
              <c:strCache>
                <c:ptCount val="1"/>
                <c:pt idx="0">
                  <c:v>Isocosto antes de IA (cP alto)</c:v>
                </c:pt>
              </c:strCache>
            </c:strRef>
          </c:tx>
          <c:spPr>
            <a:solidFill>
              <a:srgbClr val="C99735"/>
            </a:solidFill>
            <a:ln w="38100" cap="flat">
              <a:solidFill>
                <a:srgbClr val="C9973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99735"/>
              </a:solidFill>
              <a:ln w="9525" cap="flat">
                <a:solidFill>
                  <a:srgbClr val="C99735"/>
                </a:solidFill>
                <a:prstDash val="solid"/>
                <a:round/>
              </a:ln>
              <a:effectLst/>
            </c:spPr>
          </c:marker>
          <c:cat>
            <c:multiLvlStrRef>
              <c:f>Sheet1!$A$2:$A$12</c:f>
              <c:multiLvlStrCache>
                <c:ptCount val="11"/>
                <c:lvl>
                  <c:pt idx="0">
                    <c:v>0.5</c:v>
                  </c:pt>
                  <c:pt idx="1">
                    <c:v>1</c:v>
                  </c:pt>
                  <c:pt idx="2">
                    <c:v>2</c:v>
                  </c:pt>
                  <c:pt idx="3">
                    <c:v>3</c:v>
                  </c:pt>
                  <c:pt idx="4">
                    <c:v>4</c:v>
                  </c:pt>
                  <c:pt idx="5">
                    <c:v>5</c:v>
                  </c:pt>
                  <c:pt idx="6">
                    <c:v>6</c:v>
                  </c:pt>
                  <c:pt idx="7">
                    <c:v>7</c:v>
                  </c:pt>
                  <c:pt idx="8">
                    <c:v>8</c:v>
                  </c:pt>
                  <c:pt idx="9">
                    <c:v>9</c:v>
                  </c:pt>
                  <c:pt idx="10">
                    <c:v>10</c:v>
                  </c:pt>
                </c:lvl>
              </c:multiLvlStrCache>
            </c:multiLvlStrRef>
          </c:cat>
          <c:val>
            <c:numRef>
              <c:f>Sheet1!$C$2:$C$12</c:f>
              <c:numCache>
                <c:formatCode>General</c:formatCode>
                <c:ptCount val="11"/>
                <c:pt idx="0">
                  <c:v>9.125</c:v>
                </c:pt>
                <c:pt idx="1">
                  <c:v>8.549999999999999</c:v>
                </c:pt>
                <c:pt idx="2">
                  <c:v>7.3999999999999995</c:v>
                </c:pt>
                <c:pt idx="3">
                  <c:v>6.25</c:v>
                </c:pt>
                <c:pt idx="4">
                  <c:v>5.1</c:v>
                </c:pt>
                <c:pt idx="5">
                  <c:v>3.9499999999999993</c:v>
                </c:pt>
                <c:pt idx="6">
                  <c:v>2.8</c:v>
                </c:pt>
                <c:pt idx="7">
                  <c:v>1.6500000000000004</c:v>
                </c:pt>
                <c:pt idx="8">
                  <c:v>0.5</c:v>
                </c:pt>
                <c:pt idx="9">
                  <c:v>0</c:v>
                </c:pt>
                <c:pt idx="10">
                  <c:v>0</c:v>
                </c:pt>
              </c:numCache>
            </c:numRef>
          </c:val>
          <c:smooth val="0"/>
        </c:ser>
        <c:ser>
          <c:idx val="2"/>
          <c:order val="2"/>
          <c:tx>
            <c:strRef>
              <c:f>Sheet1!$D$1</c:f>
              <c:strCache>
                <c:ptCount val="1"/>
                <c:pt idx="0">
                  <c:v>Isocosto tras adopción de IA (cP↓)</c:v>
                </c:pt>
              </c:strCache>
            </c:strRef>
          </c:tx>
          <c:spPr>
            <a:solidFill>
              <a:srgbClr val="005AB5"/>
            </a:solidFill>
            <a:ln w="38100" cap="flat">
              <a:solidFill>
                <a:srgbClr val="005AB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5AB5"/>
              </a:solidFill>
              <a:ln w="9525" cap="flat">
                <a:solidFill>
                  <a:srgbClr val="005AB5"/>
                </a:solidFill>
                <a:prstDash val="solid"/>
                <a:round/>
              </a:ln>
              <a:effectLst/>
            </c:spPr>
          </c:marker>
          <c:cat>
            <c:multiLvlStrRef>
              <c:f>Sheet1!$A$2:$A$12</c:f>
              <c:multiLvlStrCache>
                <c:ptCount val="11"/>
                <c:lvl>
                  <c:pt idx="0">
                    <c:v>0.5</c:v>
                  </c:pt>
                  <c:pt idx="1">
                    <c:v>1</c:v>
                  </c:pt>
                  <c:pt idx="2">
                    <c:v>2</c:v>
                  </c:pt>
                  <c:pt idx="3">
                    <c:v>3</c:v>
                  </c:pt>
                  <c:pt idx="4">
                    <c:v>4</c:v>
                  </c:pt>
                  <c:pt idx="5">
                    <c:v>5</c:v>
                  </c:pt>
                  <c:pt idx="6">
                    <c:v>6</c:v>
                  </c:pt>
                  <c:pt idx="7">
                    <c:v>7</c:v>
                  </c:pt>
                  <c:pt idx="8">
                    <c:v>8</c:v>
                  </c:pt>
                  <c:pt idx="9">
                    <c:v>9</c:v>
                  </c:pt>
                  <c:pt idx="10">
                    <c:v>10</c:v>
                  </c:pt>
                </c:lvl>
              </c:multiLvlStrCache>
            </c:multiLvlStrRef>
          </c:cat>
          <c:val>
            <c:numRef>
              <c:f>Sheet1!$D$2:$D$12</c:f>
              <c:numCache>
                <c:formatCode>General</c:formatCode>
                <c:ptCount val="11"/>
                <c:pt idx="0">
                  <c:v>6.41</c:v>
                </c:pt>
                <c:pt idx="1">
                  <c:v>6.27</c:v>
                </c:pt>
                <c:pt idx="2">
                  <c:v>5.99</c:v>
                </c:pt>
                <c:pt idx="3">
                  <c:v>5.71</c:v>
                </c:pt>
                <c:pt idx="4">
                  <c:v>5.43</c:v>
                </c:pt>
                <c:pt idx="5">
                  <c:v>5.1499999999999995</c:v>
                </c:pt>
                <c:pt idx="6">
                  <c:v>4.869999999999999</c:v>
                </c:pt>
                <c:pt idx="7">
                  <c:v>4.59</c:v>
                </c:pt>
                <c:pt idx="8">
                  <c:v>4.31</c:v>
                </c:pt>
                <c:pt idx="9">
                  <c:v>4.029999999999999</c:v>
                </c:pt>
                <c:pt idx="10">
                  <c:v>3.7499999999999996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A626C"/>
                    </a:solidFill>
                    <a:latin typeface="Arial"/>
                  </a:defRPr>
                </a:pPr>
                <a:r>
                  <a:rPr sz="1200" b="0" i="0" u="none" strike="noStrike">
                    <a:solidFill>
                      <a:srgbClr val="5A626C"/>
                    </a:solidFill>
                    <a:latin typeface="Arial"/>
                  </a:rPr>
                  <a:t>P (predicción)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26C"/>
                </a:solidFill>
                <a:latin typeface="Arial"/>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12700" cap="flat">
              <a:solidFill>
                <a:srgbClr val="E6E9EE"/>
              </a:solidFill>
              <a:prstDash val="solid"/>
              <a:round/>
            </a:ln>
          </c:spPr>
        </c:majorGridlines>
        <c:title>
          <c:tx>
            <c:rich>
              <a:bodyPr/>
              <a:lstStyle/>
              <a:p>
                <a:pPr>
                  <a:defRPr sz="1200" b="0" i="0" u="none" strike="noStrike">
                    <a:solidFill>
                      <a:srgbClr val="5A626C"/>
                    </a:solidFill>
                    <a:latin typeface="Arial"/>
                  </a:defRPr>
                </a:pPr>
                <a:r>
                  <a:rPr sz="1200" b="0" i="0" u="none" strike="noStrike">
                    <a:solidFill>
                      <a:srgbClr val="5A626C"/>
                    </a:solidFill>
                    <a:latin typeface="Arial"/>
                  </a:rPr>
                  <a:t>J (juicio humano)</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26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50">
              <a:solidFill>
                <a:srgbClr val="5A626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A48"/>
        </a:solidFill>
      </p:bgPr>
    </p:bg>
    <p:spTree>
      <p:nvGrpSpPr>
        <p:cNvPr id="1" name=""/>
        <p:cNvGrpSpPr/>
        <p:nvPr/>
      </p:nvGrpSpPr>
      <p:grpSpPr>
        <a:xfrm>
          <a:off x="0" y="0"/>
          <a:ext cx="0" cy="0"/>
          <a:chOff x="0" y="0"/>
          <a:chExt cx="0" cy="0"/>
        </a:xfrm>
      </p:grpSpPr>
      <p:sp>
        <p:nvSpPr>
          <p:cNvPr id="2" name="Shape 0"/>
          <p:cNvSpPr/>
          <p:nvPr/>
        </p:nvSpPr>
        <p:spPr>
          <a:xfrm>
            <a:off x="9418320" y="-1463040"/>
            <a:ext cx="4206240" cy="4206240"/>
          </a:xfrm>
          <a:prstGeom prst="ellipse">
            <a:avLst/>
          </a:prstGeom>
          <a:solidFill>
            <a:srgbClr val="1C3A5E"/>
          </a:solidFill>
          <a:ln/>
        </p:spPr>
      </p:sp>
      <p:sp>
        <p:nvSpPr>
          <p:cNvPr id="3" name="Text 1"/>
          <p:cNvSpPr/>
          <p:nvPr/>
        </p:nvSpPr>
        <p:spPr>
          <a:xfrm>
            <a:off x="640080" y="566928"/>
            <a:ext cx="10058400" cy="365760"/>
          </a:xfrm>
          <a:prstGeom prst="rect">
            <a:avLst/>
          </a:prstGeom>
          <a:noFill/>
          <a:ln/>
        </p:spPr>
        <p:txBody>
          <a:bodyPr wrap="square" rtlCol="0" anchor="ctr"/>
          <a:lstStyle/>
          <a:p>
            <a:pPr indent="0" marL="0">
              <a:buNone/>
            </a:pPr>
            <a:r>
              <a:rPr lang="en-US" sz="1200" spc="200" kern="0" dirty="0">
                <a:solidFill>
                  <a:srgbClr val="9FB0C6"/>
                </a:solidFill>
                <a:latin typeface="Calibri" pitchFamily="34" charset="0"/>
                <a:ea typeface="Calibri" pitchFamily="34" charset="-122"/>
                <a:cs typeface="Calibri" pitchFamily="34" charset="-120"/>
              </a:rPr>
              <a:t>ITESM CAMPUS SANTA FE  ·  DEPARTAMENTO DE ECONOMÍA</a:t>
            </a:r>
            <a:endParaRPr lang="en-US" sz="1200" dirty="0"/>
          </a:p>
        </p:txBody>
      </p:sp>
      <p:sp>
        <p:nvSpPr>
          <p:cNvPr id="4" name="Text 2"/>
          <p:cNvSpPr/>
          <p:nvPr/>
        </p:nvSpPr>
        <p:spPr>
          <a:xfrm>
            <a:off x="640080" y="2148840"/>
            <a:ext cx="10515600" cy="118872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Economía Digital</a:t>
            </a:r>
            <a:endParaRPr lang="en-US" sz="4600" dirty="0"/>
          </a:p>
        </p:txBody>
      </p:sp>
      <p:sp>
        <p:nvSpPr>
          <p:cNvPr id="5" name="Text 3"/>
          <p:cNvSpPr/>
          <p:nvPr/>
        </p:nvSpPr>
        <p:spPr>
          <a:xfrm>
            <a:off x="640080" y="3063240"/>
            <a:ext cx="10515600" cy="640080"/>
          </a:xfrm>
          <a:prstGeom prst="rect">
            <a:avLst/>
          </a:prstGeom>
          <a:noFill/>
          <a:ln/>
        </p:spPr>
        <p:txBody>
          <a:bodyPr wrap="square" rtlCol="0" anchor="ctr"/>
          <a:lstStyle/>
          <a:p>
            <a:pPr indent="0" marL="0">
              <a:buNone/>
            </a:pPr>
            <a:r>
              <a:rPr lang="en-US" sz="2200" dirty="0">
                <a:solidFill>
                  <a:srgbClr val="E7C978"/>
                </a:solidFill>
                <a:latin typeface="Calibri" pitchFamily="34" charset="0"/>
                <a:ea typeface="Calibri" pitchFamily="34" charset="-122"/>
                <a:cs typeface="Calibri" pitchFamily="34" charset="-120"/>
              </a:rPr>
              <a:t>Sesión 4 — Tema 3 (parte II): IA y política pública</a:t>
            </a:r>
            <a:endParaRPr lang="en-US" sz="2200" dirty="0"/>
          </a:p>
        </p:txBody>
      </p:sp>
      <p:sp>
        <p:nvSpPr>
          <p:cNvPr id="6" name="Text 4"/>
          <p:cNvSpPr/>
          <p:nvPr/>
        </p:nvSpPr>
        <p:spPr>
          <a:xfrm>
            <a:off x="640080" y="3566160"/>
            <a:ext cx="10058400" cy="457200"/>
          </a:xfrm>
          <a:prstGeom prst="rect">
            <a:avLst/>
          </a:prstGeom>
          <a:noFill/>
          <a:ln/>
        </p:spPr>
        <p:txBody>
          <a:bodyPr wrap="square" rtlCol="0" anchor="ctr"/>
          <a:lstStyle/>
          <a:p>
            <a:pPr indent="0" marL="0">
              <a:buNone/>
            </a:pPr>
            <a:r>
              <a:rPr lang="en-US" sz="1400" i="1" dirty="0">
                <a:solidFill>
                  <a:srgbClr val="9FB0C6"/>
                </a:solidFill>
                <a:latin typeface="Calibri" pitchFamily="34" charset="0"/>
                <a:ea typeface="Calibri" pitchFamily="34" charset="-122"/>
                <a:cs typeface="Calibri" pitchFamily="34" charset="-120"/>
              </a:rPr>
              <a:t>Sesión de cierre del curso</a:t>
            </a:r>
            <a:endParaRPr lang="en-US" sz="1400" dirty="0"/>
          </a:p>
        </p:txBody>
      </p:sp>
      <p:sp>
        <p:nvSpPr>
          <p:cNvPr id="7" name="Shape 5"/>
          <p:cNvSpPr/>
          <p:nvPr/>
        </p:nvSpPr>
        <p:spPr>
          <a:xfrm>
            <a:off x="658368" y="4160520"/>
            <a:ext cx="3291840" cy="0"/>
          </a:xfrm>
          <a:prstGeom prst="line">
            <a:avLst/>
          </a:prstGeom>
          <a:noFill/>
          <a:ln w="25400">
            <a:solidFill>
              <a:srgbClr val="C99735"/>
            </a:solidFill>
            <a:prstDash val="solid"/>
          </a:ln>
        </p:spPr>
      </p:sp>
      <p:sp>
        <p:nvSpPr>
          <p:cNvPr id="8" name="Text 6"/>
          <p:cNvSpPr/>
          <p:nvPr/>
        </p:nvSpPr>
        <p:spPr>
          <a:xfrm>
            <a:off x="640080" y="4389120"/>
            <a:ext cx="9144000" cy="822960"/>
          </a:xfrm>
          <a:prstGeom prst="rect">
            <a:avLst/>
          </a:prstGeom>
          <a:noFill/>
          <a:ln/>
        </p:spPr>
        <p:txBody>
          <a:bodyPr wrap="square" rtlCol="0" anchor="ctr"/>
          <a:lstStyle/>
          <a:p>
            <a:pPr indent="0" marL="0">
              <a:lnSpc>
                <a:spcPts val="2200"/>
              </a:lnSpc>
              <a:buNone/>
            </a:pPr>
            <a:r>
              <a:rPr lang="en-US" sz="1400" dirty="0">
                <a:solidFill>
                  <a:srgbClr val="C7D3E2"/>
                </a:solidFill>
                <a:latin typeface="Calibri" pitchFamily="34" charset="0"/>
                <a:ea typeface="Calibri" pitchFamily="34" charset="-122"/>
                <a:cs typeface="Calibri" pitchFamily="34" charset="-120"/>
              </a:rPr>
              <a:t>Viernes 18 de septiembre de 2026   ·   10:00–13:00 h (bloque de 2 horas)
</a:t>
            </a:r>
            <a:endParaRPr lang="en-US" sz="1400" dirty="0"/>
          </a:p>
          <a:p>
            <a:pPr indent="0" marL="0">
              <a:lnSpc>
                <a:spcPts val="2200"/>
              </a:lnSpc>
              <a:buNone/>
            </a:pPr>
            <a:r>
              <a:rPr lang="en-US" sz="1400" dirty="0">
                <a:solidFill>
                  <a:srgbClr val="C7D3E2"/>
                </a:solidFill>
                <a:latin typeface="Calibri" pitchFamily="34" charset="0"/>
                <a:ea typeface="Calibri" pitchFamily="34" charset="-122"/>
                <a:cs typeface="Calibri" pitchFamily="34" charset="-120"/>
              </a:rPr>
              <a:t>Dr. Leonardo González Tejeda</a:t>
            </a:r>
            <a:endParaRPr lang="en-US" sz="1400" dirty="0"/>
          </a:p>
        </p:txBody>
      </p:sp>
      <p:sp>
        <p:nvSpPr>
          <p:cNvPr id="9" name="Text 7"/>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Notas de clase — material de apoyo docente</a:t>
            </a:r>
            <a:endParaRPr lang="en-US" sz="1000" dirty="0"/>
          </a:p>
        </p:txBody>
      </p:sp>
      <p:sp>
        <p:nvSpPr>
          <p:cNvPr id="10" name="Text 8"/>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9144000" cy="640080"/>
          </a:xfrm>
          <a:prstGeom prst="rect">
            <a:avLst/>
          </a:prstGeom>
          <a:noFill/>
          <a:ln/>
        </p:spPr>
        <p:txBody>
          <a:bodyPr wrap="square" rtlCol="0" anchor="ctr"/>
          <a:lstStyle/>
          <a:p>
            <a:pPr indent="0" marL="0">
              <a:buNone/>
            </a:pPr>
            <a:r>
              <a:rPr lang="en-US" sz="3000" b="1" dirty="0">
                <a:solidFill>
                  <a:srgbClr val="122A48"/>
                </a:solidFill>
                <a:latin typeface="Cambria" pitchFamily="34" charset="0"/>
                <a:ea typeface="Cambria" pitchFamily="34" charset="-122"/>
                <a:cs typeface="Cambria" pitchFamily="34" charset="-120"/>
              </a:rPr>
              <a:t>Agenda de la sesión</a:t>
            </a:r>
            <a:endParaRPr lang="en-US" sz="3000" dirty="0"/>
          </a:p>
        </p:txBody>
      </p:sp>
      <p:sp>
        <p:nvSpPr>
          <p:cNvPr id="3" name="Text 1"/>
          <p:cNvSpPr/>
          <p:nvPr/>
        </p:nvSpPr>
        <p:spPr>
          <a:xfrm>
            <a:off x="548640" y="914400"/>
            <a:ext cx="10789920" cy="365760"/>
          </a:xfrm>
          <a:prstGeom prst="rect">
            <a:avLst/>
          </a:prstGeom>
          <a:noFill/>
          <a:ln/>
        </p:spPr>
        <p:txBody>
          <a:bodyPr wrap="square" rtlCol="0" anchor="ctr"/>
          <a:lstStyle/>
          <a:p>
            <a:pPr indent="0" marL="0">
              <a:buNone/>
            </a:pPr>
            <a:r>
              <a:rPr lang="en-US" sz="1350" i="1" dirty="0">
                <a:solidFill>
                  <a:srgbClr val="5A626C"/>
                </a:solidFill>
                <a:latin typeface="Calibri" pitchFamily="34" charset="0"/>
                <a:ea typeface="Calibri" pitchFamily="34" charset="-122"/>
                <a:cs typeface="Calibri" pitchFamily="34" charset="-120"/>
              </a:rPr>
              <a:t>120 minutos · dos subtemas + ejercicio integrador + cierre del curso</a:t>
            </a:r>
            <a:endParaRPr lang="en-US" sz="1350" dirty="0"/>
          </a:p>
        </p:txBody>
      </p:sp>
      <p:sp>
        <p:nvSpPr>
          <p:cNvPr id="4" name="Shape 2"/>
          <p:cNvSpPr/>
          <p:nvPr/>
        </p:nvSpPr>
        <p:spPr>
          <a:xfrm>
            <a:off x="640080" y="1581912"/>
            <a:ext cx="530352" cy="530352"/>
          </a:xfrm>
          <a:prstGeom prst="ellipse">
            <a:avLst/>
          </a:prstGeom>
          <a:solidFill>
            <a:srgbClr val="C99735"/>
          </a:solidFill>
          <a:ln/>
        </p:spPr>
      </p:sp>
      <p:sp>
        <p:nvSpPr>
          <p:cNvPr id="5" name="Text 3"/>
          <p:cNvSpPr/>
          <p:nvPr/>
        </p:nvSpPr>
        <p:spPr>
          <a:xfrm>
            <a:off x="640080" y="1581912"/>
            <a:ext cx="530352" cy="530352"/>
          </a:xfrm>
          <a:prstGeom prst="rect">
            <a:avLst/>
          </a:prstGeom>
          <a:noFill/>
          <a:ln/>
        </p:spPr>
        <p:txBody>
          <a:bodyPr wrap="square" rtlCol="0" anchor="ctr"/>
          <a:lstStyle/>
          <a:p>
            <a:pPr algn="ctr" indent="0" marL="0">
              <a:buNone/>
            </a:pPr>
            <a:r>
              <a:rPr lang="en-US" sz="1100" b="1" dirty="0">
                <a:solidFill>
                  <a:srgbClr val="122A48"/>
                </a:solidFill>
                <a:latin typeface="Cambria" pitchFamily="34" charset="0"/>
                <a:ea typeface="Cambria" pitchFamily="34" charset="-122"/>
                <a:cs typeface="Cambria" pitchFamily="34" charset="-120"/>
              </a:rPr>
              <a:t>3.3a</a:t>
            </a:r>
            <a:endParaRPr lang="en-US" sz="1100" dirty="0"/>
          </a:p>
        </p:txBody>
      </p:sp>
      <p:sp>
        <p:nvSpPr>
          <p:cNvPr id="6" name="Text 4"/>
          <p:cNvSpPr/>
          <p:nvPr/>
        </p:nvSpPr>
        <p:spPr>
          <a:xfrm>
            <a:off x="1417320" y="1554480"/>
            <a:ext cx="7589520" cy="694944"/>
          </a:xfrm>
          <a:prstGeom prst="rect">
            <a:avLst/>
          </a:prstGeom>
          <a:noFill/>
          <a:ln/>
        </p:spPr>
        <p:txBody>
          <a:bodyPr wrap="square" rtlCol="0" anchor="ctr"/>
          <a:lstStyle/>
          <a:p>
            <a:pPr indent="0" marL="0">
              <a:buNone/>
            </a:pPr>
            <a:r>
              <a:rPr lang="en-US" sz="1550" dirty="0">
                <a:solidFill>
                  <a:srgbClr val="22272E"/>
                </a:solidFill>
                <a:latin typeface="Calibri" pitchFamily="34" charset="0"/>
                <a:ea typeface="Calibri" pitchFamily="34" charset="-122"/>
                <a:cs typeface="Calibri" pitchFamily="34" charset="-120"/>
              </a:rPr>
              <a:t>El marco predicción–juicio (Gans, 2025)</a:t>
            </a:r>
            <a:endParaRPr lang="en-US" sz="1550" dirty="0"/>
          </a:p>
        </p:txBody>
      </p:sp>
      <p:sp>
        <p:nvSpPr>
          <p:cNvPr id="7" name="Text 5"/>
          <p:cNvSpPr/>
          <p:nvPr/>
        </p:nvSpPr>
        <p:spPr>
          <a:xfrm>
            <a:off x="9144000" y="1554480"/>
            <a:ext cx="2011680" cy="694944"/>
          </a:xfrm>
          <a:prstGeom prst="rect">
            <a:avLst/>
          </a:prstGeom>
          <a:noFill/>
          <a:ln/>
        </p:spPr>
        <p:txBody>
          <a:bodyPr wrap="square" rtlCol="0" anchor="ctr"/>
          <a:lstStyle/>
          <a:p>
            <a:pPr algn="r" indent="0" marL="0">
              <a:buNone/>
            </a:pPr>
            <a:r>
              <a:rPr lang="en-US" sz="1400" b="1" dirty="0">
                <a:solidFill>
                  <a:srgbClr val="005AB5"/>
                </a:solidFill>
                <a:latin typeface="Calibri" pitchFamily="34" charset="0"/>
                <a:ea typeface="Calibri" pitchFamily="34" charset="-122"/>
                <a:cs typeface="Calibri" pitchFamily="34" charset="-120"/>
              </a:rPr>
              <a:t>20 min</a:t>
            </a:r>
            <a:endParaRPr lang="en-US" sz="1400" dirty="0"/>
          </a:p>
        </p:txBody>
      </p:sp>
      <p:sp>
        <p:nvSpPr>
          <p:cNvPr id="8" name="Shape 6"/>
          <p:cNvSpPr/>
          <p:nvPr/>
        </p:nvSpPr>
        <p:spPr>
          <a:xfrm>
            <a:off x="640080" y="2249424"/>
            <a:ext cx="10515600" cy="0"/>
          </a:xfrm>
          <a:prstGeom prst="line">
            <a:avLst/>
          </a:prstGeom>
          <a:noFill/>
          <a:ln w="12700">
            <a:solidFill>
              <a:srgbClr val="E3E7EC"/>
            </a:solidFill>
            <a:prstDash val="solid"/>
          </a:ln>
        </p:spPr>
      </p:sp>
      <p:sp>
        <p:nvSpPr>
          <p:cNvPr id="9" name="Shape 7"/>
          <p:cNvSpPr/>
          <p:nvPr/>
        </p:nvSpPr>
        <p:spPr>
          <a:xfrm>
            <a:off x="640080" y="2276856"/>
            <a:ext cx="530352" cy="530352"/>
          </a:xfrm>
          <a:prstGeom prst="ellipse">
            <a:avLst/>
          </a:prstGeom>
          <a:solidFill>
            <a:srgbClr val="C99735"/>
          </a:solidFill>
          <a:ln/>
        </p:spPr>
      </p:sp>
      <p:sp>
        <p:nvSpPr>
          <p:cNvPr id="10" name="Text 8"/>
          <p:cNvSpPr/>
          <p:nvPr/>
        </p:nvSpPr>
        <p:spPr>
          <a:xfrm>
            <a:off x="640080" y="2276856"/>
            <a:ext cx="530352" cy="530352"/>
          </a:xfrm>
          <a:prstGeom prst="rect">
            <a:avLst/>
          </a:prstGeom>
          <a:noFill/>
          <a:ln/>
        </p:spPr>
        <p:txBody>
          <a:bodyPr wrap="square" rtlCol="0" anchor="ctr"/>
          <a:lstStyle/>
          <a:p>
            <a:pPr algn="ctr" indent="0" marL="0">
              <a:buNone/>
            </a:pPr>
            <a:r>
              <a:rPr lang="en-US" sz="1100" b="1" dirty="0">
                <a:solidFill>
                  <a:srgbClr val="122A48"/>
                </a:solidFill>
                <a:latin typeface="Cambria" pitchFamily="34" charset="0"/>
                <a:ea typeface="Cambria" pitchFamily="34" charset="-122"/>
                <a:cs typeface="Cambria" pitchFamily="34" charset="-120"/>
              </a:rPr>
              <a:t>3.3b</a:t>
            </a:r>
            <a:endParaRPr lang="en-US" sz="1100" dirty="0"/>
          </a:p>
        </p:txBody>
      </p:sp>
      <p:sp>
        <p:nvSpPr>
          <p:cNvPr id="11" name="Text 9"/>
          <p:cNvSpPr/>
          <p:nvPr/>
        </p:nvSpPr>
        <p:spPr>
          <a:xfrm>
            <a:off x="1417320" y="2249424"/>
            <a:ext cx="7589520" cy="694944"/>
          </a:xfrm>
          <a:prstGeom prst="rect">
            <a:avLst/>
          </a:prstGeom>
          <a:noFill/>
          <a:ln/>
        </p:spPr>
        <p:txBody>
          <a:bodyPr wrap="square" rtlCol="0" anchor="ctr"/>
          <a:lstStyle/>
          <a:p>
            <a:pPr indent="0" marL="0">
              <a:buNone/>
            </a:pPr>
            <a:r>
              <a:rPr lang="en-US" sz="1550" dirty="0">
                <a:solidFill>
                  <a:srgbClr val="22272E"/>
                </a:solidFill>
                <a:latin typeface="Calibri" pitchFamily="34" charset="0"/>
                <a:ea typeface="Calibri" pitchFamily="34" charset="-122"/>
                <a:cs typeface="Calibri" pitchFamily="34" charset="-120"/>
              </a:rPr>
              <a:t>Tres efectos de sistema + caso de radiología</a:t>
            </a:r>
            <a:endParaRPr lang="en-US" sz="1550" dirty="0"/>
          </a:p>
        </p:txBody>
      </p:sp>
      <p:sp>
        <p:nvSpPr>
          <p:cNvPr id="12" name="Text 10"/>
          <p:cNvSpPr/>
          <p:nvPr/>
        </p:nvSpPr>
        <p:spPr>
          <a:xfrm>
            <a:off x="9144000" y="2249424"/>
            <a:ext cx="2011680" cy="694944"/>
          </a:xfrm>
          <a:prstGeom prst="rect">
            <a:avLst/>
          </a:prstGeom>
          <a:noFill/>
          <a:ln/>
        </p:spPr>
        <p:txBody>
          <a:bodyPr wrap="square" rtlCol="0" anchor="ctr"/>
          <a:lstStyle/>
          <a:p>
            <a:pPr algn="r" indent="0" marL="0">
              <a:buNone/>
            </a:pPr>
            <a:r>
              <a:rPr lang="en-US" sz="1400" b="1" dirty="0">
                <a:solidFill>
                  <a:srgbClr val="005AB5"/>
                </a:solidFill>
                <a:latin typeface="Calibri" pitchFamily="34" charset="0"/>
                <a:ea typeface="Calibri" pitchFamily="34" charset="-122"/>
                <a:cs typeface="Calibri" pitchFamily="34" charset="-120"/>
              </a:rPr>
              <a:t>20 min</a:t>
            </a:r>
            <a:endParaRPr lang="en-US" sz="1400" dirty="0"/>
          </a:p>
        </p:txBody>
      </p:sp>
      <p:sp>
        <p:nvSpPr>
          <p:cNvPr id="13" name="Shape 11"/>
          <p:cNvSpPr/>
          <p:nvPr/>
        </p:nvSpPr>
        <p:spPr>
          <a:xfrm>
            <a:off x="640080" y="2944368"/>
            <a:ext cx="10515600" cy="0"/>
          </a:xfrm>
          <a:prstGeom prst="line">
            <a:avLst/>
          </a:prstGeom>
          <a:noFill/>
          <a:ln w="12700">
            <a:solidFill>
              <a:srgbClr val="E3E7EC"/>
            </a:solidFill>
            <a:prstDash val="solid"/>
          </a:ln>
        </p:spPr>
      </p:sp>
      <p:sp>
        <p:nvSpPr>
          <p:cNvPr id="14" name="Shape 12"/>
          <p:cNvSpPr/>
          <p:nvPr/>
        </p:nvSpPr>
        <p:spPr>
          <a:xfrm>
            <a:off x="640080" y="2971800"/>
            <a:ext cx="457200" cy="457200"/>
          </a:xfrm>
          <a:prstGeom prst="ellipse">
            <a:avLst/>
          </a:prstGeom>
          <a:solidFill>
            <a:srgbClr val="C7CDD6"/>
          </a:solidFill>
          <a:ln/>
        </p:spPr>
      </p:sp>
      <p:sp>
        <p:nvSpPr>
          <p:cNvPr id="15" name="Text 13"/>
          <p:cNvSpPr/>
          <p:nvPr/>
        </p:nvSpPr>
        <p:spPr>
          <a:xfrm>
            <a:off x="640080" y="2971800"/>
            <a:ext cx="45720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16" name="Text 14"/>
          <p:cNvSpPr/>
          <p:nvPr/>
        </p:nvSpPr>
        <p:spPr>
          <a:xfrm>
            <a:off x="1417320" y="2944368"/>
            <a:ext cx="7589520" cy="694944"/>
          </a:xfrm>
          <a:prstGeom prst="rect">
            <a:avLst/>
          </a:prstGeom>
          <a:noFill/>
          <a:ln/>
        </p:spPr>
        <p:txBody>
          <a:bodyPr wrap="square" rtlCol="0" anchor="ctr"/>
          <a:lstStyle/>
          <a:p>
            <a:pPr indent="0" marL="0">
              <a:buNone/>
            </a:pPr>
            <a:r>
              <a:rPr lang="en-US" sz="1550" i="1" dirty="0">
                <a:solidFill>
                  <a:srgbClr val="5A626C"/>
                </a:solidFill>
                <a:latin typeface="Calibri" pitchFamily="34" charset="0"/>
                <a:ea typeface="Calibri" pitchFamily="34" charset="-122"/>
                <a:cs typeface="Calibri" pitchFamily="34" charset="-120"/>
              </a:rPr>
              <a:t>Receso</a:t>
            </a:r>
            <a:endParaRPr lang="en-US" sz="1550" dirty="0"/>
          </a:p>
        </p:txBody>
      </p:sp>
      <p:sp>
        <p:nvSpPr>
          <p:cNvPr id="17" name="Text 15"/>
          <p:cNvSpPr/>
          <p:nvPr/>
        </p:nvSpPr>
        <p:spPr>
          <a:xfrm>
            <a:off x="9144000" y="2944368"/>
            <a:ext cx="2011680" cy="694944"/>
          </a:xfrm>
          <a:prstGeom prst="rect">
            <a:avLst/>
          </a:prstGeom>
          <a:noFill/>
          <a:ln/>
        </p:spPr>
        <p:txBody>
          <a:bodyPr wrap="square" rtlCol="0" anchor="ctr"/>
          <a:lstStyle/>
          <a:p>
            <a:pPr algn="r" indent="0" marL="0">
              <a:buNone/>
            </a:pPr>
            <a:r>
              <a:rPr lang="en-US" sz="1400" b="1" dirty="0">
                <a:solidFill>
                  <a:srgbClr val="005AB5"/>
                </a:solidFill>
                <a:latin typeface="Calibri" pitchFamily="34" charset="0"/>
                <a:ea typeface="Calibri" pitchFamily="34" charset="-122"/>
                <a:cs typeface="Calibri" pitchFamily="34" charset="-120"/>
              </a:rPr>
              <a:t>10 min</a:t>
            </a:r>
            <a:endParaRPr lang="en-US" sz="1400" dirty="0"/>
          </a:p>
        </p:txBody>
      </p:sp>
      <p:sp>
        <p:nvSpPr>
          <p:cNvPr id="18" name="Shape 16"/>
          <p:cNvSpPr/>
          <p:nvPr/>
        </p:nvSpPr>
        <p:spPr>
          <a:xfrm>
            <a:off x="640080" y="3639312"/>
            <a:ext cx="10515600" cy="0"/>
          </a:xfrm>
          <a:prstGeom prst="line">
            <a:avLst/>
          </a:prstGeom>
          <a:noFill/>
          <a:ln w="12700">
            <a:solidFill>
              <a:srgbClr val="E3E7EC"/>
            </a:solidFill>
            <a:prstDash val="solid"/>
          </a:ln>
        </p:spPr>
      </p:sp>
      <p:sp>
        <p:nvSpPr>
          <p:cNvPr id="19" name="Shape 17"/>
          <p:cNvSpPr/>
          <p:nvPr/>
        </p:nvSpPr>
        <p:spPr>
          <a:xfrm>
            <a:off x="640080" y="3666744"/>
            <a:ext cx="530352" cy="530352"/>
          </a:xfrm>
          <a:prstGeom prst="ellipse">
            <a:avLst/>
          </a:prstGeom>
          <a:solidFill>
            <a:srgbClr val="C99735"/>
          </a:solidFill>
          <a:ln/>
        </p:spPr>
      </p:sp>
      <p:sp>
        <p:nvSpPr>
          <p:cNvPr id="20" name="Text 18"/>
          <p:cNvSpPr/>
          <p:nvPr/>
        </p:nvSpPr>
        <p:spPr>
          <a:xfrm>
            <a:off x="640080" y="3666744"/>
            <a:ext cx="530352" cy="530352"/>
          </a:xfrm>
          <a:prstGeom prst="rect">
            <a:avLst/>
          </a:prstGeom>
          <a:noFill/>
          <a:ln/>
        </p:spPr>
        <p:txBody>
          <a:bodyPr wrap="square" rtlCol="0" anchor="ctr"/>
          <a:lstStyle/>
          <a:p>
            <a:pPr algn="ctr" indent="0" marL="0">
              <a:buNone/>
            </a:pPr>
            <a:r>
              <a:rPr lang="en-US" sz="1100" b="1" dirty="0">
                <a:solidFill>
                  <a:srgbClr val="122A48"/>
                </a:solidFill>
                <a:latin typeface="Cambria" pitchFamily="34" charset="0"/>
                <a:ea typeface="Cambria" pitchFamily="34" charset="-122"/>
                <a:cs typeface="Cambria" pitchFamily="34" charset="-120"/>
              </a:rPr>
              <a:t>3.3c</a:t>
            </a:r>
            <a:endParaRPr lang="en-US" sz="1100" dirty="0"/>
          </a:p>
        </p:txBody>
      </p:sp>
      <p:sp>
        <p:nvSpPr>
          <p:cNvPr id="21" name="Text 19"/>
          <p:cNvSpPr/>
          <p:nvPr/>
        </p:nvSpPr>
        <p:spPr>
          <a:xfrm>
            <a:off x="1417320" y="3639312"/>
            <a:ext cx="7589520" cy="694944"/>
          </a:xfrm>
          <a:prstGeom prst="rect">
            <a:avLst/>
          </a:prstGeom>
          <a:noFill/>
          <a:ln/>
        </p:spPr>
        <p:txBody>
          <a:bodyPr wrap="square" rtlCol="0" anchor="ctr"/>
          <a:lstStyle/>
          <a:p>
            <a:pPr indent="0" marL="0">
              <a:buNone/>
            </a:pPr>
            <a:r>
              <a:rPr lang="en-US" sz="1550" dirty="0">
                <a:solidFill>
                  <a:srgbClr val="22272E"/>
                </a:solidFill>
                <a:latin typeface="Calibri" pitchFamily="34" charset="0"/>
                <a:ea typeface="Calibri" pitchFamily="34" charset="-122"/>
                <a:cs typeface="Calibri" pitchFamily="34" charset="-120"/>
              </a:rPr>
              <a:t>Precio de la predicción y estructura de mercado</a:t>
            </a:r>
            <a:endParaRPr lang="en-US" sz="1550" dirty="0"/>
          </a:p>
        </p:txBody>
      </p:sp>
      <p:sp>
        <p:nvSpPr>
          <p:cNvPr id="22" name="Text 20"/>
          <p:cNvSpPr/>
          <p:nvPr/>
        </p:nvSpPr>
        <p:spPr>
          <a:xfrm>
            <a:off x="9144000" y="3639312"/>
            <a:ext cx="2011680" cy="694944"/>
          </a:xfrm>
          <a:prstGeom prst="rect">
            <a:avLst/>
          </a:prstGeom>
          <a:noFill/>
          <a:ln/>
        </p:spPr>
        <p:txBody>
          <a:bodyPr wrap="square" rtlCol="0" anchor="ctr"/>
          <a:lstStyle/>
          <a:p>
            <a:pPr algn="r" indent="0" marL="0">
              <a:buNone/>
            </a:pPr>
            <a:r>
              <a:rPr lang="en-US" sz="1400" b="1" dirty="0">
                <a:solidFill>
                  <a:srgbClr val="005AB5"/>
                </a:solidFill>
                <a:latin typeface="Calibri" pitchFamily="34" charset="0"/>
                <a:ea typeface="Calibri" pitchFamily="34" charset="-122"/>
                <a:cs typeface="Calibri" pitchFamily="34" charset="-120"/>
              </a:rPr>
              <a:t>10 min</a:t>
            </a:r>
            <a:endParaRPr lang="en-US" sz="1400" dirty="0"/>
          </a:p>
        </p:txBody>
      </p:sp>
      <p:sp>
        <p:nvSpPr>
          <p:cNvPr id="23" name="Shape 21"/>
          <p:cNvSpPr/>
          <p:nvPr/>
        </p:nvSpPr>
        <p:spPr>
          <a:xfrm>
            <a:off x="640080" y="4334256"/>
            <a:ext cx="10515600" cy="0"/>
          </a:xfrm>
          <a:prstGeom prst="line">
            <a:avLst/>
          </a:prstGeom>
          <a:noFill/>
          <a:ln w="12700">
            <a:solidFill>
              <a:srgbClr val="E3E7EC"/>
            </a:solidFill>
            <a:prstDash val="solid"/>
          </a:ln>
        </p:spPr>
      </p:sp>
      <p:sp>
        <p:nvSpPr>
          <p:cNvPr id="24" name="Shape 22"/>
          <p:cNvSpPr/>
          <p:nvPr/>
        </p:nvSpPr>
        <p:spPr>
          <a:xfrm>
            <a:off x="640080" y="4361688"/>
            <a:ext cx="530352" cy="530352"/>
          </a:xfrm>
          <a:prstGeom prst="ellipse">
            <a:avLst/>
          </a:prstGeom>
          <a:solidFill>
            <a:srgbClr val="C99735"/>
          </a:solidFill>
          <a:ln/>
        </p:spPr>
      </p:sp>
      <p:sp>
        <p:nvSpPr>
          <p:cNvPr id="25" name="Text 23"/>
          <p:cNvSpPr/>
          <p:nvPr/>
        </p:nvSpPr>
        <p:spPr>
          <a:xfrm>
            <a:off x="640080" y="4361688"/>
            <a:ext cx="530352" cy="530352"/>
          </a:xfrm>
          <a:prstGeom prst="rect">
            <a:avLst/>
          </a:prstGeom>
          <a:noFill/>
          <a:ln/>
        </p:spPr>
        <p:txBody>
          <a:bodyPr wrap="square" rtlCol="0" anchor="ctr"/>
          <a:lstStyle/>
          <a:p>
            <a:pPr algn="ctr" indent="0" marL="0">
              <a:buNone/>
            </a:pPr>
            <a:r>
              <a:rPr lang="en-US" sz="1100" b="1" dirty="0">
                <a:solidFill>
                  <a:srgbClr val="122A48"/>
                </a:solidFill>
                <a:latin typeface="Cambria" pitchFamily="34" charset="0"/>
                <a:ea typeface="Cambria" pitchFamily="34" charset="-122"/>
                <a:cs typeface="Cambria" pitchFamily="34" charset="-120"/>
              </a:rPr>
              <a:t>3.4</a:t>
            </a:r>
            <a:endParaRPr lang="en-US" sz="1100" dirty="0"/>
          </a:p>
        </p:txBody>
      </p:sp>
      <p:sp>
        <p:nvSpPr>
          <p:cNvPr id="26" name="Text 24"/>
          <p:cNvSpPr/>
          <p:nvPr/>
        </p:nvSpPr>
        <p:spPr>
          <a:xfrm>
            <a:off x="1417320" y="4334256"/>
            <a:ext cx="7589520" cy="694944"/>
          </a:xfrm>
          <a:prstGeom prst="rect">
            <a:avLst/>
          </a:prstGeom>
          <a:noFill/>
          <a:ln/>
        </p:spPr>
        <p:txBody>
          <a:bodyPr wrap="square" rtlCol="0" anchor="ctr"/>
          <a:lstStyle/>
          <a:p>
            <a:pPr indent="0" marL="0">
              <a:buNone/>
            </a:pPr>
            <a:r>
              <a:rPr lang="en-US" sz="1550" dirty="0">
                <a:solidFill>
                  <a:srgbClr val="22272E"/>
                </a:solidFill>
                <a:latin typeface="Calibri" pitchFamily="34" charset="0"/>
                <a:ea typeface="Calibri" pitchFamily="34" charset="-122"/>
                <a:cs typeface="Calibri" pitchFamily="34" charset="-120"/>
              </a:rPr>
              <a:t>Política pública y regulación digital</a:t>
            </a:r>
            <a:endParaRPr lang="en-US" sz="1550" dirty="0"/>
          </a:p>
        </p:txBody>
      </p:sp>
      <p:sp>
        <p:nvSpPr>
          <p:cNvPr id="27" name="Text 25"/>
          <p:cNvSpPr/>
          <p:nvPr/>
        </p:nvSpPr>
        <p:spPr>
          <a:xfrm>
            <a:off x="9144000" y="4334256"/>
            <a:ext cx="2011680" cy="694944"/>
          </a:xfrm>
          <a:prstGeom prst="rect">
            <a:avLst/>
          </a:prstGeom>
          <a:noFill/>
          <a:ln/>
        </p:spPr>
        <p:txBody>
          <a:bodyPr wrap="square" rtlCol="0" anchor="ctr"/>
          <a:lstStyle/>
          <a:p>
            <a:pPr algn="r" indent="0" marL="0">
              <a:buNone/>
            </a:pPr>
            <a:r>
              <a:rPr lang="en-US" sz="1400" b="1" dirty="0">
                <a:solidFill>
                  <a:srgbClr val="005AB5"/>
                </a:solidFill>
                <a:latin typeface="Calibri" pitchFamily="34" charset="0"/>
                <a:ea typeface="Calibri" pitchFamily="34" charset="-122"/>
                <a:cs typeface="Calibri" pitchFamily="34" charset="-120"/>
              </a:rPr>
              <a:t>25 min</a:t>
            </a:r>
            <a:endParaRPr lang="en-US" sz="1400" dirty="0"/>
          </a:p>
        </p:txBody>
      </p:sp>
      <p:sp>
        <p:nvSpPr>
          <p:cNvPr id="28" name="Shape 26"/>
          <p:cNvSpPr/>
          <p:nvPr/>
        </p:nvSpPr>
        <p:spPr>
          <a:xfrm>
            <a:off x="640080" y="5029200"/>
            <a:ext cx="10515600" cy="0"/>
          </a:xfrm>
          <a:prstGeom prst="line">
            <a:avLst/>
          </a:prstGeom>
          <a:noFill/>
          <a:ln w="12700">
            <a:solidFill>
              <a:srgbClr val="E3E7EC"/>
            </a:solidFill>
            <a:prstDash val="solid"/>
          </a:ln>
        </p:spPr>
      </p:sp>
      <p:sp>
        <p:nvSpPr>
          <p:cNvPr id="29" name="Shape 27"/>
          <p:cNvSpPr/>
          <p:nvPr/>
        </p:nvSpPr>
        <p:spPr>
          <a:xfrm>
            <a:off x="640080" y="5056632"/>
            <a:ext cx="457200" cy="457200"/>
          </a:xfrm>
          <a:prstGeom prst="ellipse">
            <a:avLst/>
          </a:prstGeom>
          <a:solidFill>
            <a:srgbClr val="C99735"/>
          </a:solidFill>
          <a:ln/>
        </p:spPr>
      </p:sp>
      <p:sp>
        <p:nvSpPr>
          <p:cNvPr id="30" name="Text 28"/>
          <p:cNvSpPr/>
          <p:nvPr/>
        </p:nvSpPr>
        <p:spPr>
          <a:xfrm>
            <a:off x="640080" y="5056632"/>
            <a:ext cx="457200" cy="457200"/>
          </a:xfrm>
          <a:prstGeom prst="rect">
            <a:avLst/>
          </a:prstGeom>
          <a:noFill/>
          <a:ln/>
        </p:spPr>
        <p:txBody>
          <a:bodyPr wrap="square" rtlCol="0" anchor="ctr"/>
          <a:lstStyle/>
          <a:p>
            <a:pPr algn="ctr" indent="0" marL="0">
              <a:buNone/>
            </a:pPr>
            <a:r>
              <a:rPr lang="en-US" sz="1300" b="1" dirty="0">
                <a:solidFill>
                  <a:srgbClr val="122A48"/>
                </a:solidFill>
                <a:latin typeface="Cambria" pitchFamily="34" charset="0"/>
                <a:ea typeface="Cambria" pitchFamily="34" charset="-122"/>
                <a:cs typeface="Cambria" pitchFamily="34" charset="-120"/>
              </a:rPr>
              <a:t>✓</a:t>
            </a:r>
            <a:endParaRPr lang="en-US" sz="1300" dirty="0"/>
          </a:p>
        </p:txBody>
      </p:sp>
      <p:sp>
        <p:nvSpPr>
          <p:cNvPr id="31" name="Text 29"/>
          <p:cNvSpPr/>
          <p:nvPr/>
        </p:nvSpPr>
        <p:spPr>
          <a:xfrm>
            <a:off x="1417320" y="5029200"/>
            <a:ext cx="7589520" cy="694944"/>
          </a:xfrm>
          <a:prstGeom prst="rect">
            <a:avLst/>
          </a:prstGeom>
          <a:noFill/>
          <a:ln/>
        </p:spPr>
        <p:txBody>
          <a:bodyPr wrap="square" rtlCol="0" anchor="ctr"/>
          <a:lstStyle/>
          <a:p>
            <a:pPr indent="0" marL="0">
              <a:buNone/>
            </a:pPr>
            <a:r>
              <a:rPr lang="en-US" sz="1550" dirty="0">
                <a:solidFill>
                  <a:srgbClr val="22272E"/>
                </a:solidFill>
                <a:latin typeface="Calibri" pitchFamily="34" charset="0"/>
                <a:ea typeface="Calibri" pitchFamily="34" charset="-122"/>
                <a:cs typeface="Calibri" pitchFamily="34" charset="-120"/>
              </a:rPr>
              <a:t>Ejercicio integrador + cierre del curso</a:t>
            </a:r>
            <a:endParaRPr lang="en-US" sz="1550" dirty="0"/>
          </a:p>
        </p:txBody>
      </p:sp>
      <p:sp>
        <p:nvSpPr>
          <p:cNvPr id="32" name="Text 30"/>
          <p:cNvSpPr/>
          <p:nvPr/>
        </p:nvSpPr>
        <p:spPr>
          <a:xfrm>
            <a:off x="9144000" y="5029200"/>
            <a:ext cx="2011680" cy="694944"/>
          </a:xfrm>
          <a:prstGeom prst="rect">
            <a:avLst/>
          </a:prstGeom>
          <a:noFill/>
          <a:ln/>
        </p:spPr>
        <p:txBody>
          <a:bodyPr wrap="square" rtlCol="0" anchor="ctr"/>
          <a:lstStyle/>
          <a:p>
            <a:pPr algn="r" indent="0" marL="0">
              <a:buNone/>
            </a:pPr>
            <a:r>
              <a:rPr lang="en-US" sz="1400" b="1" dirty="0">
                <a:solidFill>
                  <a:srgbClr val="005AB5"/>
                </a:solidFill>
                <a:latin typeface="Calibri" pitchFamily="34" charset="0"/>
                <a:ea typeface="Calibri" pitchFamily="34" charset="-122"/>
                <a:cs typeface="Calibri" pitchFamily="34" charset="-120"/>
              </a:rPr>
              <a:t>25 min</a:t>
            </a:r>
            <a:endParaRPr lang="en-US" sz="1400" dirty="0"/>
          </a:p>
        </p:txBody>
      </p:sp>
      <p:sp>
        <p:nvSpPr>
          <p:cNvPr id="33" name="Text 31"/>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1–2</a:t>
            </a:r>
            <a:endParaRPr lang="en-US" sz="1000" dirty="0"/>
          </a:p>
        </p:txBody>
      </p:sp>
      <p:sp>
        <p:nvSpPr>
          <p:cNvPr id="34" name="Text 32"/>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E9F1FB"/>
          </a:solidFill>
          <a:ln/>
        </p:spPr>
      </p:sp>
      <p:sp>
        <p:nvSpPr>
          <p:cNvPr id="3" name="Text 1"/>
          <p:cNvSpPr/>
          <p:nvPr/>
        </p:nvSpPr>
        <p:spPr>
          <a:xfrm>
            <a:off x="457200" y="2011680"/>
            <a:ext cx="3108960" cy="1645920"/>
          </a:xfrm>
          <a:prstGeom prst="rect">
            <a:avLst/>
          </a:prstGeom>
          <a:noFill/>
          <a:ln/>
        </p:spPr>
        <p:txBody>
          <a:bodyPr wrap="square" rtlCol="0" anchor="ctr"/>
          <a:lstStyle/>
          <a:p>
            <a:pPr indent="0" marL="0">
              <a:lnSpc>
                <a:spcPts val="3400"/>
              </a:lnSpc>
              <a:buNone/>
            </a:pPr>
            <a:r>
              <a:rPr lang="en-US" sz="2800" b="1" dirty="0">
                <a:solidFill>
                  <a:srgbClr val="122A48"/>
                </a:solidFill>
                <a:latin typeface="Cambria" pitchFamily="34" charset="0"/>
                <a:ea typeface="Cambria" pitchFamily="34" charset="-122"/>
                <a:cs typeface="Cambria" pitchFamily="34" charset="-120"/>
              </a:rPr>
              <a:t>Objetivos</a:t>
            </a:r>
            <a:endParaRPr lang="en-US" sz="2800" dirty="0"/>
          </a:p>
          <a:p>
            <a:pPr indent="0" marL="0">
              <a:lnSpc>
                <a:spcPts val="3400"/>
              </a:lnSpc>
              <a:buNone/>
            </a:pPr>
            <a:r>
              <a:rPr lang="en-US" sz="2800" b="1" dirty="0">
                <a:solidFill>
                  <a:srgbClr val="122A48"/>
                </a:solidFill>
                <a:latin typeface="Cambria" pitchFamily="34" charset="0"/>
                <a:ea typeface="Cambria" pitchFamily="34" charset="-122"/>
                <a:cs typeface="Cambria" pitchFamily="34" charset="-120"/>
              </a:rPr>
              <a:t>de la sesión</a:t>
            </a:r>
            <a:endParaRPr lang="en-US" sz="2800" dirty="0"/>
          </a:p>
        </p:txBody>
      </p:sp>
      <p:sp>
        <p:nvSpPr>
          <p:cNvPr id="4" name="Shape 2"/>
          <p:cNvSpPr/>
          <p:nvPr/>
        </p:nvSpPr>
        <p:spPr>
          <a:xfrm>
            <a:off x="4343400" y="457200"/>
            <a:ext cx="402336" cy="402336"/>
          </a:xfrm>
          <a:prstGeom prst="ellipse">
            <a:avLst/>
          </a:prstGeom>
          <a:solidFill>
            <a:srgbClr val="C99735"/>
          </a:solidFill>
          <a:ln/>
        </p:spPr>
      </p:sp>
      <p:sp>
        <p:nvSpPr>
          <p:cNvPr id="5" name="Text 3"/>
          <p:cNvSpPr/>
          <p:nvPr/>
        </p:nvSpPr>
        <p:spPr>
          <a:xfrm>
            <a:off x="4343400" y="457200"/>
            <a:ext cx="402336" cy="402336"/>
          </a:xfrm>
          <a:prstGeom prst="rect">
            <a:avLst/>
          </a:prstGeom>
          <a:noFill/>
          <a:ln/>
        </p:spPr>
        <p:txBody>
          <a:bodyPr wrap="square" rtlCol="0" anchor="ctr"/>
          <a:lstStyle/>
          <a:p>
            <a:pPr algn="ctr" indent="0" marL="0">
              <a:buNone/>
            </a:pPr>
            <a:r>
              <a:rPr lang="en-US" sz="1400" b="1" dirty="0">
                <a:solidFill>
                  <a:srgbClr val="122A48"/>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4937760" y="411480"/>
            <a:ext cx="6629400" cy="914400"/>
          </a:xfrm>
          <a:prstGeom prst="rect">
            <a:avLst/>
          </a:prstGeom>
          <a:noFill/>
          <a:ln/>
        </p:spPr>
        <p:txBody>
          <a:bodyPr wrap="square" rtlCol="0" anchor="ctr"/>
          <a:lstStyle/>
          <a:p>
            <a:pPr indent="0" marL="0">
              <a:buNone/>
            </a:pPr>
            <a:r>
              <a:rPr lang="en-US" sz="1450" dirty="0">
                <a:solidFill>
                  <a:srgbClr val="22272E"/>
                </a:solidFill>
                <a:latin typeface="Calibri" pitchFamily="34" charset="0"/>
                <a:ea typeface="Calibri" pitchFamily="34" charset="-122"/>
                <a:cs typeface="Calibri" pitchFamily="34" charset="-120"/>
              </a:rPr>
              <a:t>Aplicar el marco predicción–juicio a la producción de una decisión.</a:t>
            </a:r>
            <a:endParaRPr lang="en-US" sz="1450" dirty="0"/>
          </a:p>
        </p:txBody>
      </p:sp>
      <p:sp>
        <p:nvSpPr>
          <p:cNvPr id="7" name="Shape 5"/>
          <p:cNvSpPr/>
          <p:nvPr/>
        </p:nvSpPr>
        <p:spPr>
          <a:xfrm>
            <a:off x="4343400" y="1481328"/>
            <a:ext cx="402336" cy="402336"/>
          </a:xfrm>
          <a:prstGeom prst="ellipse">
            <a:avLst/>
          </a:prstGeom>
          <a:solidFill>
            <a:srgbClr val="C99735"/>
          </a:solidFill>
          <a:ln/>
        </p:spPr>
      </p:sp>
      <p:sp>
        <p:nvSpPr>
          <p:cNvPr id="8" name="Text 6"/>
          <p:cNvSpPr/>
          <p:nvPr/>
        </p:nvSpPr>
        <p:spPr>
          <a:xfrm>
            <a:off x="4343400" y="1481328"/>
            <a:ext cx="402336" cy="402336"/>
          </a:xfrm>
          <a:prstGeom prst="rect">
            <a:avLst/>
          </a:prstGeom>
          <a:noFill/>
          <a:ln/>
        </p:spPr>
        <p:txBody>
          <a:bodyPr wrap="square" rtlCol="0" anchor="ctr"/>
          <a:lstStyle/>
          <a:p>
            <a:pPr algn="ctr" indent="0" marL="0">
              <a:buNone/>
            </a:pPr>
            <a:r>
              <a:rPr lang="en-US" sz="1400" b="1" dirty="0">
                <a:solidFill>
                  <a:srgbClr val="122A48"/>
                </a:solidFill>
                <a:latin typeface="Cambria" pitchFamily="34" charset="0"/>
                <a:ea typeface="Cambria" pitchFamily="34" charset="-122"/>
                <a:cs typeface="Cambria" pitchFamily="34" charset="-120"/>
              </a:rPr>
              <a:t>2</a:t>
            </a:r>
            <a:endParaRPr lang="en-US" sz="1400" dirty="0"/>
          </a:p>
        </p:txBody>
      </p:sp>
      <p:sp>
        <p:nvSpPr>
          <p:cNvPr id="9" name="Text 7"/>
          <p:cNvSpPr/>
          <p:nvPr/>
        </p:nvSpPr>
        <p:spPr>
          <a:xfrm>
            <a:off x="4937760" y="1435608"/>
            <a:ext cx="6629400" cy="914400"/>
          </a:xfrm>
          <a:prstGeom prst="rect">
            <a:avLst/>
          </a:prstGeom>
          <a:noFill/>
          <a:ln/>
        </p:spPr>
        <p:txBody>
          <a:bodyPr wrap="square" rtlCol="0" anchor="ctr"/>
          <a:lstStyle/>
          <a:p>
            <a:pPr indent="0" marL="0">
              <a:buNone/>
            </a:pPr>
            <a:r>
              <a:rPr lang="en-US" sz="1450" dirty="0">
                <a:solidFill>
                  <a:srgbClr val="22272E"/>
                </a:solidFill>
                <a:latin typeface="Calibri" pitchFamily="34" charset="0"/>
                <a:ea typeface="Calibri" pitchFamily="34" charset="-122"/>
                <a:cs typeface="Calibri" pitchFamily="34" charset="-120"/>
              </a:rPr>
              <a:t>Derivar la condición de tangencia y los efectos sustitución/escala de cP ↓.</a:t>
            </a:r>
            <a:endParaRPr lang="en-US" sz="1450" dirty="0"/>
          </a:p>
        </p:txBody>
      </p:sp>
      <p:sp>
        <p:nvSpPr>
          <p:cNvPr id="10" name="Shape 8"/>
          <p:cNvSpPr/>
          <p:nvPr/>
        </p:nvSpPr>
        <p:spPr>
          <a:xfrm>
            <a:off x="4343400" y="2505456"/>
            <a:ext cx="402336" cy="402336"/>
          </a:xfrm>
          <a:prstGeom prst="ellipse">
            <a:avLst/>
          </a:prstGeom>
          <a:solidFill>
            <a:srgbClr val="C99735"/>
          </a:solidFill>
          <a:ln/>
        </p:spPr>
      </p:sp>
      <p:sp>
        <p:nvSpPr>
          <p:cNvPr id="11" name="Text 9"/>
          <p:cNvSpPr/>
          <p:nvPr/>
        </p:nvSpPr>
        <p:spPr>
          <a:xfrm>
            <a:off x="4343400" y="2505456"/>
            <a:ext cx="402336" cy="402336"/>
          </a:xfrm>
          <a:prstGeom prst="rect">
            <a:avLst/>
          </a:prstGeom>
          <a:noFill/>
          <a:ln/>
        </p:spPr>
        <p:txBody>
          <a:bodyPr wrap="square" rtlCol="0" anchor="ctr"/>
          <a:lstStyle/>
          <a:p>
            <a:pPr algn="ctr" indent="0" marL="0">
              <a:buNone/>
            </a:pPr>
            <a:r>
              <a:rPr lang="en-US" sz="1400" b="1" dirty="0">
                <a:solidFill>
                  <a:srgbClr val="122A48"/>
                </a:solidFill>
                <a:latin typeface="Cambria" pitchFamily="34" charset="0"/>
                <a:ea typeface="Cambria" pitchFamily="34" charset="-122"/>
                <a:cs typeface="Cambria" pitchFamily="34" charset="-120"/>
              </a:rPr>
              <a:t>3</a:t>
            </a:r>
            <a:endParaRPr lang="en-US" sz="1400" dirty="0"/>
          </a:p>
        </p:txBody>
      </p:sp>
      <p:sp>
        <p:nvSpPr>
          <p:cNvPr id="12" name="Text 10"/>
          <p:cNvSpPr/>
          <p:nvPr/>
        </p:nvSpPr>
        <p:spPr>
          <a:xfrm>
            <a:off x="4937760" y="2459736"/>
            <a:ext cx="6629400" cy="914400"/>
          </a:xfrm>
          <a:prstGeom prst="rect">
            <a:avLst/>
          </a:prstGeom>
          <a:noFill/>
          <a:ln/>
        </p:spPr>
        <p:txBody>
          <a:bodyPr wrap="square" rtlCol="0" anchor="ctr"/>
          <a:lstStyle/>
          <a:p>
            <a:pPr indent="0" marL="0">
              <a:buNone/>
            </a:pPr>
            <a:r>
              <a:rPr lang="en-US" sz="1450" dirty="0">
                <a:solidFill>
                  <a:srgbClr val="22272E"/>
                </a:solidFill>
                <a:latin typeface="Calibri" pitchFamily="34" charset="0"/>
                <a:ea typeface="Calibri" pitchFamily="34" charset="-122"/>
                <a:cs typeface="Calibri" pitchFamily="34" charset="-120"/>
              </a:rPr>
              <a:t>Explicar el efecto bullwhip, la alineación, y complementos/sustitutos.</a:t>
            </a:r>
            <a:endParaRPr lang="en-US" sz="1450" dirty="0"/>
          </a:p>
        </p:txBody>
      </p:sp>
      <p:sp>
        <p:nvSpPr>
          <p:cNvPr id="13" name="Shape 11"/>
          <p:cNvSpPr/>
          <p:nvPr/>
        </p:nvSpPr>
        <p:spPr>
          <a:xfrm>
            <a:off x="4343400" y="3529584"/>
            <a:ext cx="402336" cy="402336"/>
          </a:xfrm>
          <a:prstGeom prst="ellipse">
            <a:avLst/>
          </a:prstGeom>
          <a:solidFill>
            <a:srgbClr val="C99735"/>
          </a:solidFill>
          <a:ln/>
        </p:spPr>
      </p:sp>
      <p:sp>
        <p:nvSpPr>
          <p:cNvPr id="14" name="Text 12"/>
          <p:cNvSpPr/>
          <p:nvPr/>
        </p:nvSpPr>
        <p:spPr>
          <a:xfrm>
            <a:off x="4343400" y="3529584"/>
            <a:ext cx="402336" cy="402336"/>
          </a:xfrm>
          <a:prstGeom prst="rect">
            <a:avLst/>
          </a:prstGeom>
          <a:noFill/>
          <a:ln/>
        </p:spPr>
        <p:txBody>
          <a:bodyPr wrap="square" rtlCol="0" anchor="ctr"/>
          <a:lstStyle/>
          <a:p>
            <a:pPr algn="ctr" indent="0" marL="0">
              <a:buNone/>
            </a:pPr>
            <a:r>
              <a:rPr lang="en-US" sz="1400" b="1" dirty="0">
                <a:solidFill>
                  <a:srgbClr val="122A48"/>
                </a:solidFill>
                <a:latin typeface="Cambria" pitchFamily="34" charset="0"/>
                <a:ea typeface="Cambria" pitchFamily="34" charset="-122"/>
                <a:cs typeface="Cambria" pitchFamily="34" charset="-120"/>
              </a:rPr>
              <a:t>4</a:t>
            </a:r>
            <a:endParaRPr lang="en-US" sz="1400" dirty="0"/>
          </a:p>
        </p:txBody>
      </p:sp>
      <p:sp>
        <p:nvSpPr>
          <p:cNvPr id="15" name="Text 13"/>
          <p:cNvSpPr/>
          <p:nvPr/>
        </p:nvSpPr>
        <p:spPr>
          <a:xfrm>
            <a:off x="4937760" y="3483864"/>
            <a:ext cx="6629400" cy="914400"/>
          </a:xfrm>
          <a:prstGeom prst="rect">
            <a:avLst/>
          </a:prstGeom>
          <a:noFill/>
          <a:ln/>
        </p:spPr>
        <p:txBody>
          <a:bodyPr wrap="square" rtlCol="0" anchor="ctr"/>
          <a:lstStyle/>
          <a:p>
            <a:pPr indent="0" marL="0">
              <a:buNone/>
            </a:pPr>
            <a:r>
              <a:rPr lang="en-US" sz="1450" dirty="0">
                <a:solidFill>
                  <a:srgbClr val="22272E"/>
                </a:solidFill>
                <a:latin typeface="Calibri" pitchFamily="34" charset="0"/>
                <a:ea typeface="Calibri" pitchFamily="34" charset="-122"/>
                <a:cs typeface="Calibri" pitchFamily="34" charset="-120"/>
              </a:rPr>
              <a:t>Analizar la estructura de mercado de proveedores de IA.</a:t>
            </a:r>
            <a:endParaRPr lang="en-US" sz="1450" dirty="0"/>
          </a:p>
        </p:txBody>
      </p:sp>
      <p:sp>
        <p:nvSpPr>
          <p:cNvPr id="16" name="Shape 14"/>
          <p:cNvSpPr/>
          <p:nvPr/>
        </p:nvSpPr>
        <p:spPr>
          <a:xfrm>
            <a:off x="4343400" y="4553712"/>
            <a:ext cx="402336" cy="402336"/>
          </a:xfrm>
          <a:prstGeom prst="ellipse">
            <a:avLst/>
          </a:prstGeom>
          <a:solidFill>
            <a:srgbClr val="C99735"/>
          </a:solidFill>
          <a:ln/>
        </p:spPr>
      </p:sp>
      <p:sp>
        <p:nvSpPr>
          <p:cNvPr id="17" name="Text 15"/>
          <p:cNvSpPr/>
          <p:nvPr/>
        </p:nvSpPr>
        <p:spPr>
          <a:xfrm>
            <a:off x="4343400" y="4553712"/>
            <a:ext cx="402336" cy="402336"/>
          </a:xfrm>
          <a:prstGeom prst="rect">
            <a:avLst/>
          </a:prstGeom>
          <a:noFill/>
          <a:ln/>
        </p:spPr>
        <p:txBody>
          <a:bodyPr wrap="square" rtlCol="0" anchor="ctr"/>
          <a:lstStyle/>
          <a:p>
            <a:pPr algn="ctr" indent="0" marL="0">
              <a:buNone/>
            </a:pPr>
            <a:r>
              <a:rPr lang="en-US" sz="1400" b="1" dirty="0">
                <a:solidFill>
                  <a:srgbClr val="122A48"/>
                </a:solidFill>
                <a:latin typeface="Cambria" pitchFamily="34" charset="0"/>
                <a:ea typeface="Cambria" pitchFamily="34" charset="-122"/>
                <a:cs typeface="Cambria" pitchFamily="34" charset="-120"/>
              </a:rPr>
              <a:t>5</a:t>
            </a:r>
            <a:endParaRPr lang="en-US" sz="1400" dirty="0"/>
          </a:p>
        </p:txBody>
      </p:sp>
      <p:sp>
        <p:nvSpPr>
          <p:cNvPr id="18" name="Text 16"/>
          <p:cNvSpPr/>
          <p:nvPr/>
        </p:nvSpPr>
        <p:spPr>
          <a:xfrm>
            <a:off x="4937760" y="4507992"/>
            <a:ext cx="6629400" cy="914400"/>
          </a:xfrm>
          <a:prstGeom prst="rect">
            <a:avLst/>
          </a:prstGeom>
          <a:noFill/>
          <a:ln/>
        </p:spPr>
        <p:txBody>
          <a:bodyPr wrap="square" rtlCol="0" anchor="ctr"/>
          <a:lstStyle/>
          <a:p>
            <a:pPr indent="0" marL="0">
              <a:buNone/>
            </a:pPr>
            <a:r>
              <a:rPr lang="en-US" sz="1450" dirty="0">
                <a:solidFill>
                  <a:srgbClr val="22272E"/>
                </a:solidFill>
                <a:latin typeface="Calibri" pitchFamily="34" charset="0"/>
                <a:ea typeface="Calibri" pitchFamily="34" charset="-122"/>
                <a:cs typeface="Calibri" pitchFamily="34" charset="-120"/>
              </a:rPr>
              <a:t>Comparar regulación ex ante, ex post y portabilidad de datos.</a:t>
            </a:r>
            <a:endParaRPr lang="en-US" sz="1450" dirty="0"/>
          </a:p>
        </p:txBody>
      </p:sp>
      <p:sp>
        <p:nvSpPr>
          <p:cNvPr id="19" name="Shape 17"/>
          <p:cNvSpPr/>
          <p:nvPr/>
        </p:nvSpPr>
        <p:spPr>
          <a:xfrm>
            <a:off x="4343400" y="5577840"/>
            <a:ext cx="402336" cy="402336"/>
          </a:xfrm>
          <a:prstGeom prst="ellipse">
            <a:avLst/>
          </a:prstGeom>
          <a:solidFill>
            <a:srgbClr val="C99735"/>
          </a:solidFill>
          <a:ln/>
        </p:spPr>
      </p:sp>
      <p:sp>
        <p:nvSpPr>
          <p:cNvPr id="20" name="Text 18"/>
          <p:cNvSpPr/>
          <p:nvPr/>
        </p:nvSpPr>
        <p:spPr>
          <a:xfrm>
            <a:off x="4343400" y="5577840"/>
            <a:ext cx="402336" cy="402336"/>
          </a:xfrm>
          <a:prstGeom prst="rect">
            <a:avLst/>
          </a:prstGeom>
          <a:noFill/>
          <a:ln/>
        </p:spPr>
        <p:txBody>
          <a:bodyPr wrap="square" rtlCol="0" anchor="ctr"/>
          <a:lstStyle/>
          <a:p>
            <a:pPr algn="ctr" indent="0" marL="0">
              <a:buNone/>
            </a:pPr>
            <a:r>
              <a:rPr lang="en-US" sz="1400" b="1" dirty="0">
                <a:solidFill>
                  <a:srgbClr val="122A48"/>
                </a:solidFill>
                <a:latin typeface="Cambria" pitchFamily="34" charset="0"/>
                <a:ea typeface="Cambria" pitchFamily="34" charset="-122"/>
                <a:cs typeface="Cambria" pitchFamily="34" charset="-120"/>
              </a:rPr>
              <a:t>6</a:t>
            </a:r>
            <a:endParaRPr lang="en-US" sz="1400" dirty="0"/>
          </a:p>
        </p:txBody>
      </p:sp>
      <p:sp>
        <p:nvSpPr>
          <p:cNvPr id="21" name="Text 19"/>
          <p:cNvSpPr/>
          <p:nvPr/>
        </p:nvSpPr>
        <p:spPr>
          <a:xfrm>
            <a:off x="4937760" y="5532120"/>
            <a:ext cx="6629400" cy="914400"/>
          </a:xfrm>
          <a:prstGeom prst="rect">
            <a:avLst/>
          </a:prstGeom>
          <a:noFill/>
          <a:ln/>
        </p:spPr>
        <p:txBody>
          <a:bodyPr wrap="square" rtlCol="0" anchor="ctr"/>
          <a:lstStyle/>
          <a:p>
            <a:pPr indent="0" marL="0">
              <a:buNone/>
            </a:pPr>
            <a:r>
              <a:rPr lang="en-US" sz="1450" dirty="0">
                <a:solidFill>
                  <a:srgbClr val="22272E"/>
                </a:solidFill>
                <a:latin typeface="Calibri" pitchFamily="34" charset="0"/>
                <a:ea typeface="Calibri" pitchFamily="34" charset="-122"/>
                <a:cs typeface="Calibri" pitchFamily="34" charset="-120"/>
              </a:rPr>
              <a:t>Resolver el ejercicio integrador (Armstrong + IA + regulación).</a:t>
            </a:r>
            <a:endParaRPr lang="en-US" sz="1450" dirty="0"/>
          </a:p>
        </p:txBody>
      </p:sp>
      <p:sp>
        <p:nvSpPr>
          <p:cNvPr id="22" name="Text 20"/>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1</a:t>
            </a:r>
            <a:endParaRPr lang="en-US" sz="1000" dirty="0"/>
          </a:p>
        </p:txBody>
      </p:sp>
      <p:sp>
        <p:nvSpPr>
          <p:cNvPr id="23" name="Text 21"/>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48640" y="457200"/>
            <a:ext cx="10972800" cy="822960"/>
          </a:xfrm>
          <a:prstGeom prst="rect">
            <a:avLst/>
          </a:prstGeom>
          <a:noFill/>
          <a:ln/>
        </p:spPr>
        <p:txBody>
          <a:bodyPr wrap="square" rtlCol="0" anchor="ctr"/>
          <a:lstStyle/>
          <a:p>
            <a:pPr indent="0" marL="0">
              <a:buNone/>
            </a:pPr>
            <a:r>
              <a:rPr lang="en-US" sz="2600" b="1" dirty="0">
                <a:solidFill>
                  <a:srgbClr val="122A48"/>
                </a:solidFill>
                <a:latin typeface="Cambria" pitchFamily="34" charset="0"/>
                <a:ea typeface="Cambria" pitchFamily="34" charset="-122"/>
                <a:cs typeface="Cambria" pitchFamily="34" charset="-120"/>
              </a:rPr>
              <a:t>La IA como abaratamiento de la predicción</a:t>
            </a:r>
            <a:endParaRPr lang="en-US" sz="2600" dirty="0"/>
          </a:p>
        </p:txBody>
      </p:sp>
      <p:sp>
        <p:nvSpPr>
          <p:cNvPr id="3" name="Text 1"/>
          <p:cNvSpPr/>
          <p:nvPr/>
        </p:nvSpPr>
        <p:spPr>
          <a:xfrm>
            <a:off x="640080" y="1600200"/>
            <a:ext cx="4572000" cy="365760"/>
          </a:xfrm>
          <a:prstGeom prst="rect">
            <a:avLst/>
          </a:prstGeom>
          <a:noFill/>
          <a:ln/>
        </p:spPr>
        <p:txBody>
          <a:bodyPr wrap="square" rtlCol="0" anchor="ctr"/>
          <a:lstStyle/>
          <a:p>
            <a:pPr indent="0" marL="0">
              <a:buNone/>
            </a:pPr>
            <a:r>
              <a:rPr lang="en-US" sz="1500" b="1" dirty="0">
                <a:solidFill>
                  <a:srgbClr val="005AB5"/>
                </a:solidFill>
                <a:latin typeface="Calibri" pitchFamily="34" charset="0"/>
                <a:ea typeface="Calibri" pitchFamily="34" charset="-122"/>
                <a:cs typeface="Calibri" pitchFamily="34" charset="-120"/>
              </a:rPr>
              <a:t>Pregunta para el grupo:</a:t>
            </a:r>
            <a:endParaRPr lang="en-US" sz="1500" dirty="0"/>
          </a:p>
        </p:txBody>
      </p:sp>
      <p:sp>
        <p:nvSpPr>
          <p:cNvPr id="4" name="Text 2"/>
          <p:cNvSpPr/>
          <p:nvPr/>
        </p:nvSpPr>
        <p:spPr>
          <a:xfrm>
            <a:off x="640080" y="2011680"/>
            <a:ext cx="10607040" cy="1005840"/>
          </a:xfrm>
          <a:prstGeom prst="rect">
            <a:avLst/>
          </a:prstGeom>
          <a:noFill/>
          <a:ln/>
        </p:spPr>
        <p:txBody>
          <a:bodyPr wrap="square" rtlCol="0" anchor="ctr"/>
          <a:lstStyle/>
          <a:p>
            <a:pPr indent="0" marL="0">
              <a:buNone/>
            </a:pPr>
            <a:r>
              <a:rPr lang="en-US" sz="2100" i="1" dirty="0">
                <a:solidFill>
                  <a:srgbClr val="22272E"/>
                </a:solidFill>
                <a:latin typeface="Calibri" pitchFamily="34" charset="0"/>
                <a:ea typeface="Calibri" pitchFamily="34" charset="-122"/>
                <a:cs typeface="Calibri" pitchFamily="34" charset="-120"/>
              </a:rPr>
              <a:t>“Cuando un banco usa IA para aprobar un crédito, ¿qué está haciendo, exactamente, la IA?”</a:t>
            </a:r>
            <a:endParaRPr lang="en-US" sz="2100" dirty="0"/>
          </a:p>
        </p:txBody>
      </p:sp>
      <p:sp>
        <p:nvSpPr>
          <p:cNvPr id="5" name="Shape 3"/>
          <p:cNvSpPr/>
          <p:nvPr/>
        </p:nvSpPr>
        <p:spPr>
          <a:xfrm>
            <a:off x="640080" y="3200400"/>
            <a:ext cx="10881360" cy="1463040"/>
          </a:xfrm>
          <a:prstGeom prst="rect">
            <a:avLst/>
          </a:prstGeom>
          <a:solidFill>
            <a:srgbClr val="FFFFFF"/>
          </a:solidFill>
          <a:ln w="12700">
            <a:solidFill>
              <a:srgbClr val="DDE3E9"/>
            </a:solidFill>
            <a:prstDash val="solid"/>
          </a:ln>
        </p:spPr>
      </p:sp>
      <p:sp>
        <p:nvSpPr>
          <p:cNvPr id="6" name="Text 4"/>
          <p:cNvSpPr/>
          <p:nvPr/>
        </p:nvSpPr>
        <p:spPr>
          <a:xfrm>
            <a:off x="914400" y="3337560"/>
            <a:ext cx="10332720" cy="1188720"/>
          </a:xfrm>
          <a:prstGeom prst="rect">
            <a:avLst/>
          </a:prstGeom>
          <a:noFill/>
          <a:ln/>
        </p:spPr>
        <p:txBody>
          <a:bodyPr wrap="square" rtlCol="0" anchor="ctr"/>
          <a:lstStyle/>
          <a:p>
            <a:pPr indent="0" marL="0">
              <a:lnSpc>
                <a:spcPts val="2300"/>
              </a:lnSpc>
              <a:buNone/>
            </a:pPr>
            <a:r>
              <a:rPr lang="en-US" sz="1700" dirty="0">
                <a:solidFill>
                  <a:srgbClr val="122A48"/>
                </a:solidFill>
                <a:latin typeface="Cambria" pitchFamily="34" charset="0"/>
                <a:ea typeface="Cambria" pitchFamily="34" charset="-122"/>
                <a:cs typeface="Cambria" pitchFamily="34" charset="-120"/>
              </a:rPr>
              <a:t>No decide si el crédito es una buena idea —eso sigue siendo juicio. Hace una sola cosa, mucho más barata que antes: predecir si la persona pagará.</a:t>
            </a:r>
            <a:endParaRPr lang="en-US" sz="1700" dirty="0"/>
          </a:p>
        </p:txBody>
      </p:sp>
      <p:sp>
        <p:nvSpPr>
          <p:cNvPr id="7" name="Text 5"/>
          <p:cNvSpPr/>
          <p:nvPr/>
        </p:nvSpPr>
        <p:spPr>
          <a:xfrm>
            <a:off x="640080" y="4892040"/>
            <a:ext cx="10607040" cy="822960"/>
          </a:xfrm>
          <a:prstGeom prst="rect">
            <a:avLst/>
          </a:prstGeom>
          <a:noFill/>
          <a:ln/>
        </p:spPr>
        <p:txBody>
          <a:bodyPr wrap="square" rtlCol="0" anchor="ctr"/>
          <a:lstStyle/>
          <a:p>
            <a:pPr indent="0" marL="0">
              <a:buNone/>
            </a:pPr>
            <a:r>
              <a:rPr lang="en-US" sz="1450" i="1" dirty="0">
                <a:solidFill>
                  <a:srgbClr val="5A626C"/>
                </a:solidFill>
                <a:latin typeface="Calibri" pitchFamily="34" charset="0"/>
                <a:ea typeface="Calibri" pitchFamily="34" charset="-122"/>
                <a:cs typeface="Calibri" pitchFamily="34" charset="-120"/>
              </a:rPr>
              <a:t>Pregunta: ¿qué otras decisiones cotidianas ya combinan una predicción algorítmica barata con un juicio humano costoso?</a:t>
            </a:r>
            <a:endParaRPr lang="en-US" sz="1450" dirty="0"/>
          </a:p>
        </p:txBody>
      </p:sp>
      <p:sp>
        <p:nvSpPr>
          <p:cNvPr id="8" name="Text 6"/>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2</a:t>
            </a:r>
            <a:endParaRPr lang="en-US" sz="1000" dirty="0"/>
          </a:p>
        </p:txBody>
      </p:sp>
      <p:sp>
        <p:nvSpPr>
          <p:cNvPr id="9" name="Text 7"/>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A48"/>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C3A5E"/>
          </a:solidFill>
          <a:ln/>
        </p:spPr>
      </p:sp>
      <p:sp>
        <p:nvSpPr>
          <p:cNvPr id="3" name="Text 1"/>
          <p:cNvSpPr/>
          <p:nvPr/>
        </p:nvSpPr>
        <p:spPr>
          <a:xfrm>
            <a:off x="0" y="0"/>
            <a:ext cx="4206240" cy="6858000"/>
          </a:xfrm>
          <a:prstGeom prst="rect">
            <a:avLst/>
          </a:prstGeom>
          <a:noFill/>
          <a:ln/>
        </p:spPr>
        <p:txBody>
          <a:bodyPr wrap="square" rtlCol="0" anchor="ctr"/>
          <a:lstStyle/>
          <a:p>
            <a:pPr algn="ctr" indent="0" marL="0">
              <a:buNone/>
            </a:pPr>
            <a:r>
              <a:rPr lang="en-US" sz="8200" b="1" dirty="0">
                <a:solidFill>
                  <a:srgbClr val="C99735"/>
                </a:solidFill>
                <a:latin typeface="Cambria" pitchFamily="34" charset="0"/>
                <a:ea typeface="Cambria" pitchFamily="34" charset="-122"/>
                <a:cs typeface="Cambria" pitchFamily="34" charset="-120"/>
              </a:rPr>
              <a:t>3.3a</a:t>
            </a:r>
            <a:endParaRPr lang="en-US" sz="8200" dirty="0"/>
          </a:p>
        </p:txBody>
      </p:sp>
      <p:sp>
        <p:nvSpPr>
          <p:cNvPr id="4" name="Text 2"/>
          <p:cNvSpPr/>
          <p:nvPr/>
        </p:nvSpPr>
        <p:spPr>
          <a:xfrm>
            <a:off x="4663440" y="2331720"/>
            <a:ext cx="6949440" cy="14630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El marco predicción–juicio</a:t>
            </a:r>
            <a:endParaRPr lang="en-US" sz="3200" dirty="0"/>
          </a:p>
        </p:txBody>
      </p:sp>
      <p:sp>
        <p:nvSpPr>
          <p:cNvPr id="5" name="Text 3"/>
          <p:cNvSpPr/>
          <p:nvPr/>
        </p:nvSpPr>
        <p:spPr>
          <a:xfrm>
            <a:off x="4663440" y="3703320"/>
            <a:ext cx="6949440" cy="914400"/>
          </a:xfrm>
          <a:prstGeom prst="rect">
            <a:avLst/>
          </a:prstGeom>
          <a:noFill/>
          <a:ln/>
        </p:spPr>
        <p:txBody>
          <a:bodyPr wrap="square" rtlCol="0" anchor="ctr"/>
          <a:lstStyle/>
          <a:p>
            <a:pPr indent="0" marL="0">
              <a:buNone/>
            </a:pPr>
            <a:r>
              <a:rPr lang="en-US" sz="1600" i="1" dirty="0">
                <a:solidFill>
                  <a:srgbClr val="C7D3E2"/>
                </a:solidFill>
                <a:latin typeface="Calibri" pitchFamily="34" charset="0"/>
                <a:ea typeface="Calibri" pitchFamily="34" charset="-122"/>
                <a:cs typeface="Calibri" pitchFamily="34" charset="-120"/>
              </a:rPr>
              <a:t>Agrawal, Gans y Goldfarb (2018); Gans (2025)</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155680" cy="640080"/>
          </a:xfrm>
          <a:prstGeom prst="rect">
            <a:avLst/>
          </a:prstGeom>
          <a:noFill/>
          <a:ln/>
        </p:spPr>
        <p:txBody>
          <a:bodyPr wrap="square" rtlCol="0" anchor="ctr"/>
          <a:lstStyle/>
          <a:p>
            <a:pPr indent="0" marL="0">
              <a:buNone/>
            </a:pPr>
            <a:r>
              <a:rPr lang="en-US" sz="2400" b="1" dirty="0">
                <a:solidFill>
                  <a:srgbClr val="122A48"/>
                </a:solidFill>
                <a:latin typeface="Cambria" pitchFamily="34" charset="0"/>
                <a:ea typeface="Cambria" pitchFamily="34" charset="-122"/>
                <a:cs typeface="Cambria" pitchFamily="34" charset="-120"/>
              </a:rPr>
              <a:t>Decisión = g(Predicción, Juicio) → Acción</a:t>
            </a:r>
            <a:endParaRPr lang="en-US" sz="2400" dirty="0"/>
          </a:p>
        </p:txBody>
      </p:sp>
      <p:sp>
        <p:nvSpPr>
          <p:cNvPr id="3" name="Shape 1"/>
          <p:cNvSpPr/>
          <p:nvPr/>
        </p:nvSpPr>
        <p:spPr>
          <a:xfrm>
            <a:off x="548640" y="1371600"/>
            <a:ext cx="5349240" cy="1828800"/>
          </a:xfrm>
          <a:prstGeom prst="rect">
            <a:avLst/>
          </a:prstGeom>
          <a:solidFill>
            <a:srgbClr val="E9F1FB"/>
          </a:solidFill>
          <a:ln/>
        </p:spPr>
      </p:sp>
      <p:sp>
        <p:nvSpPr>
          <p:cNvPr id="4" name="Text 2"/>
          <p:cNvSpPr/>
          <p:nvPr/>
        </p:nvSpPr>
        <p:spPr>
          <a:xfrm>
            <a:off x="777240" y="1508760"/>
            <a:ext cx="4846320" cy="457200"/>
          </a:xfrm>
          <a:prstGeom prst="rect">
            <a:avLst/>
          </a:prstGeom>
          <a:noFill/>
          <a:ln/>
        </p:spPr>
        <p:txBody>
          <a:bodyPr wrap="square" rtlCol="0" anchor="ctr"/>
          <a:lstStyle/>
          <a:p>
            <a:pPr indent="0" marL="0">
              <a:buNone/>
            </a:pPr>
            <a:r>
              <a:rPr lang="en-US" sz="1800" b="1" dirty="0">
                <a:solidFill>
                  <a:srgbClr val="122A48"/>
                </a:solidFill>
                <a:latin typeface="Cambria" pitchFamily="34" charset="0"/>
                <a:ea typeface="Cambria" pitchFamily="34" charset="-122"/>
                <a:cs typeface="Cambria" pitchFamily="34" charset="-120"/>
              </a:rPr>
              <a:t>Predicción (P)</a:t>
            </a:r>
            <a:endParaRPr lang="en-US" sz="1800" dirty="0"/>
          </a:p>
        </p:txBody>
      </p:sp>
      <p:sp>
        <p:nvSpPr>
          <p:cNvPr id="5" name="Text 3"/>
          <p:cNvSpPr/>
          <p:nvPr/>
        </p:nvSpPr>
        <p:spPr>
          <a:xfrm>
            <a:off x="777240" y="2057400"/>
            <a:ext cx="4846320" cy="1051560"/>
          </a:xfrm>
          <a:prstGeom prst="rect">
            <a:avLst/>
          </a:prstGeom>
          <a:noFill/>
          <a:ln/>
        </p:spPr>
        <p:txBody>
          <a:bodyPr wrap="square" rtlCol="0" anchor="ctr"/>
          <a:lstStyle/>
          <a:p>
            <a:pPr indent="0" marL="0">
              <a:buNone/>
            </a:pPr>
            <a:r>
              <a:rPr lang="en-US" sz="1500" dirty="0">
                <a:solidFill>
                  <a:srgbClr val="22272E"/>
                </a:solidFill>
                <a:latin typeface="Calibri" pitchFamily="34" charset="0"/>
                <a:ea typeface="Calibri" pitchFamily="34" charset="-122"/>
                <a:cs typeface="Calibri" pitchFamily="34" charset="-120"/>
              </a:rPr>
              <a:t>“Dado lo que sé, ¿qué es probable que ocurra?” — el llenado de información faltante.</a:t>
            </a:r>
            <a:endParaRPr lang="en-US" sz="1500" dirty="0"/>
          </a:p>
        </p:txBody>
      </p:sp>
      <p:sp>
        <p:nvSpPr>
          <p:cNvPr id="6" name="Shape 4"/>
          <p:cNvSpPr/>
          <p:nvPr/>
        </p:nvSpPr>
        <p:spPr>
          <a:xfrm>
            <a:off x="6080760" y="1371600"/>
            <a:ext cx="5532120" cy="1828800"/>
          </a:xfrm>
          <a:prstGeom prst="rect">
            <a:avLst/>
          </a:prstGeom>
          <a:solidFill>
            <a:srgbClr val="FAF3E2"/>
          </a:solidFill>
          <a:ln/>
        </p:spPr>
      </p:sp>
      <p:sp>
        <p:nvSpPr>
          <p:cNvPr id="7" name="Text 5"/>
          <p:cNvSpPr/>
          <p:nvPr/>
        </p:nvSpPr>
        <p:spPr>
          <a:xfrm>
            <a:off x="6309360" y="1508760"/>
            <a:ext cx="5029200" cy="457200"/>
          </a:xfrm>
          <a:prstGeom prst="rect">
            <a:avLst/>
          </a:prstGeom>
          <a:noFill/>
          <a:ln/>
        </p:spPr>
        <p:txBody>
          <a:bodyPr wrap="square" rtlCol="0" anchor="ctr"/>
          <a:lstStyle/>
          <a:p>
            <a:pPr indent="0" marL="0">
              <a:buNone/>
            </a:pPr>
            <a:r>
              <a:rPr lang="en-US" sz="1800" b="1" dirty="0">
                <a:solidFill>
                  <a:srgbClr val="6B4E12"/>
                </a:solidFill>
                <a:latin typeface="Cambria" pitchFamily="34" charset="0"/>
                <a:ea typeface="Cambria" pitchFamily="34" charset="-122"/>
                <a:cs typeface="Cambria" pitchFamily="34" charset="-120"/>
              </a:rPr>
              <a:t>Juicio (J)</a:t>
            </a:r>
            <a:endParaRPr lang="en-US" sz="1800" dirty="0"/>
          </a:p>
        </p:txBody>
      </p:sp>
      <p:sp>
        <p:nvSpPr>
          <p:cNvPr id="8" name="Text 6"/>
          <p:cNvSpPr/>
          <p:nvPr/>
        </p:nvSpPr>
        <p:spPr>
          <a:xfrm>
            <a:off x="6309360" y="2057400"/>
            <a:ext cx="5029200" cy="1051560"/>
          </a:xfrm>
          <a:prstGeom prst="rect">
            <a:avLst/>
          </a:prstGeom>
          <a:noFill/>
          <a:ln/>
        </p:spPr>
        <p:txBody>
          <a:bodyPr wrap="square" rtlCol="0" anchor="ctr"/>
          <a:lstStyle/>
          <a:p>
            <a:pPr indent="0" marL="0">
              <a:buNone/>
            </a:pPr>
            <a:r>
              <a:rPr lang="en-US" sz="1500" dirty="0">
                <a:solidFill>
                  <a:srgbClr val="22272E"/>
                </a:solidFill>
                <a:latin typeface="Calibri" pitchFamily="34" charset="0"/>
                <a:ea typeface="Calibri" pitchFamily="34" charset="-122"/>
                <a:cs typeface="Calibri" pitchFamily="34" charset="-120"/>
              </a:rPr>
              <a:t>“Dado lo que probablemente ocurra, ¿qué acción prefiero?” — la asignación de valor relativo.</a:t>
            </a:r>
            <a:endParaRPr lang="en-US" sz="1500" dirty="0"/>
          </a:p>
        </p:txBody>
      </p:sp>
      <p:sp>
        <p:nvSpPr>
          <p:cNvPr id="9" name="Shape 7"/>
          <p:cNvSpPr/>
          <p:nvPr/>
        </p:nvSpPr>
        <p:spPr>
          <a:xfrm>
            <a:off x="548640" y="3429000"/>
            <a:ext cx="11064240" cy="1051560"/>
          </a:xfrm>
          <a:prstGeom prst="rect">
            <a:avLst/>
          </a:prstGeom>
          <a:solidFill>
            <a:srgbClr val="122A48"/>
          </a:solidFill>
          <a:ln/>
        </p:spPr>
      </p:sp>
      <p:sp>
        <p:nvSpPr>
          <p:cNvPr id="10" name="Text 8"/>
          <p:cNvSpPr/>
          <p:nvPr/>
        </p:nvSpPr>
        <p:spPr>
          <a:xfrm>
            <a:off x="868680" y="3429000"/>
            <a:ext cx="10515600" cy="1051560"/>
          </a:xfrm>
          <a:prstGeom prst="rect">
            <a:avLst/>
          </a:prstGeom>
          <a:noFill/>
          <a:ln/>
        </p:spPr>
        <p:txBody>
          <a:bodyPr wrap="square" rtlCol="0" anchor="ctr"/>
          <a:lstStyle/>
          <a:p>
            <a:pPr indent="0" marL="0">
              <a:buNone/>
            </a:pPr>
            <a:r>
              <a:rPr lang="en-US" sz="1500" b="1" dirty="0">
                <a:solidFill>
                  <a:srgbClr val="E7C978"/>
                </a:solidFill>
                <a:latin typeface="Calibri" pitchFamily="34" charset="0"/>
                <a:ea typeface="Calibri" pitchFamily="34" charset="-122"/>
                <a:cs typeface="Calibri" pitchFamily="34" charset="-120"/>
              </a:rPr>
              <a:t>Tesis central: los avances recientes en IA son, en esencia, avances en predicción estadística — su efecto de primer orden es abaratar ese insumo, no la automatización per se.</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617720"/>
          <a:ext cx="11064240" cy="1371600"/>
        </p:xfrm>
        <a:graphic>
          <a:graphicData uri="http://schemas.openxmlformats.org/drawingml/2006/table">
            <a:tbl>
              <a:tblPr/>
              <a:tblGrid>
                <a:gridCol w="2377440"/>
                <a:gridCol w="4343400"/>
                <a:gridCol w="4343400"/>
              </a:tblGrid>
              <a:tr h="457200">
                <a:tc>
                  <a:txBody>
                    <a:bodyPr/>
                    <a:lstStyle/>
                    <a:p>
                      <a:pPr indent="0" marL="0">
                        <a:buNone/>
                      </a:pPr>
                      <a:r>
                        <a:rPr lang="en-US" sz="1200" b="1" dirty="0">
                          <a:solidFill>
                            <a:srgbClr val="FFFFFF"/>
                          </a:solidFill>
                        </a:rPr>
                        <a:t>Ejemplo</a:t>
                      </a:r>
                      <a:endParaRPr lang="en-US" sz="1200" dirty="0"/>
                    </a:p>
                  </a:txBody>
                  <a:tcPr marL="91440" marR="91440" marT="45720" marB="45720">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122A48"/>
                    </a:solidFill>
                  </a:tcPr>
                </a:tc>
                <a:tc>
                  <a:txBody>
                    <a:bodyPr/>
                    <a:lstStyle/>
                    <a:p>
                      <a:pPr indent="0" marL="0">
                        <a:buNone/>
                      </a:pPr>
                      <a:r>
                        <a:rPr lang="en-US" sz="1200" b="1" dirty="0">
                          <a:solidFill>
                            <a:srgbClr val="FFFFFF"/>
                          </a:solidFill>
                        </a:rPr>
                        <a:t>Antes (P y J caros)</a:t>
                      </a:r>
                      <a:endParaRPr lang="en-US" sz="1200" dirty="0"/>
                    </a:p>
                  </a:txBody>
                  <a:tcPr marL="91440" marR="91440" marT="45720" marB="45720">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122A48"/>
                    </a:solidFill>
                  </a:tcPr>
                </a:tc>
                <a:tc>
                  <a:txBody>
                    <a:bodyPr/>
                    <a:lstStyle/>
                    <a:p>
                      <a:pPr indent="0" marL="0">
                        <a:buNone/>
                      </a:pPr>
                      <a:r>
                        <a:rPr lang="en-US" sz="1200" b="1" dirty="0">
                          <a:solidFill>
                            <a:srgbClr val="FFFFFF"/>
                          </a:solidFill>
                        </a:rPr>
                        <a:t>Hoy (P barata)</a:t>
                      </a:r>
                      <a:endParaRPr lang="en-US" sz="1200" dirty="0"/>
                    </a:p>
                  </a:txBody>
                  <a:tcPr marL="91440" marR="91440" marT="45720" marB="45720">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122A48"/>
                    </a:solidFill>
                  </a:tcPr>
                </a:tc>
              </a:tr>
              <a:tr h="457200">
                <a:tc>
                  <a:txBody>
                    <a:bodyPr/>
                    <a:lstStyle/>
                    <a:p>
                      <a:pPr indent="0" marL="0">
                        <a:buNone/>
                      </a:pPr>
                      <a:r>
                        <a:rPr lang="en-US" sz="1250" b="1" dirty="0">
                          <a:solidFill>
                            <a:srgbClr val="22272E"/>
                          </a:solidFill>
                        </a:rPr>
                        <a:t>Crédito</a:t>
                      </a:r>
                      <a:endParaRPr lang="en-US" sz="1250" dirty="0"/>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indent="0" marL="0">
                        <a:buNone/>
                      </a:pPr>
                      <a:r>
                        <a:rPr lang="en-US" sz="1250" dirty="0">
                          <a:solidFill>
                            <a:srgbClr val="22272E"/>
                          </a:solidFill>
                        </a:rPr>
                        <a:t>Evaluación manual del oficial</a:t>
                      </a:r>
                      <a:endParaRPr lang="en-US" sz="1250" dirty="0"/>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indent="0" marL="0">
                        <a:buNone/>
                      </a:pPr>
                      <a:r>
                        <a:rPr lang="en-US" sz="1250" dirty="0">
                          <a:solidFill>
                            <a:srgbClr val="22272E"/>
                          </a:solidFill>
                        </a:rPr>
                        <a:t>Score automatizado; juicio humano en casos límite</a:t>
                      </a:r>
                      <a:endParaRPr lang="en-US" sz="1250" dirty="0"/>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22272E"/>
                          </a:solidFill>
                        </a:rPr>
                        <a:t>Imagen médica</a:t>
                      </a:r>
                      <a:endParaRPr lang="en-US" sz="1250" dirty="0"/>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4F6F8"/>
                    </a:solidFill>
                  </a:tcPr>
                </a:tc>
                <a:tc>
                  <a:txBody>
                    <a:bodyPr/>
                    <a:lstStyle/>
                    <a:p>
                      <a:pPr indent="0" marL="0">
                        <a:buNone/>
                      </a:pPr>
                      <a:r>
                        <a:rPr lang="en-US" sz="1250" dirty="0">
                          <a:solidFill>
                            <a:srgbClr val="22272E"/>
                          </a:solidFill>
                        </a:rPr>
                        <a:t>Lectura exclusivamente humana</a:t>
                      </a:r>
                      <a:endParaRPr lang="en-US" sz="1250" dirty="0"/>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4F6F8"/>
                    </a:solidFill>
                  </a:tcPr>
                </a:tc>
                <a:tc>
                  <a:txBody>
                    <a:bodyPr/>
                    <a:lstStyle/>
                    <a:p>
                      <a:pPr indent="0" marL="0">
                        <a:buNone/>
                      </a:pPr>
                      <a:r>
                        <a:rPr lang="en-US" sz="1250" dirty="0">
                          <a:solidFill>
                            <a:srgbClr val="22272E"/>
                          </a:solidFill>
                        </a:rPr>
                        <a:t>Apoyo diagnóstico por IA (Bloque 4)</a:t>
                      </a:r>
                      <a:endParaRPr lang="en-US" sz="1250" dirty="0"/>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4F6F8"/>
                    </a:solidFill>
                  </a:tcPr>
                </a:tc>
              </a:tr>
            </a:tbl>
          </a:graphicData>
        </a:graphic>
      </p:graphicFrame>
      <p:sp>
        <p:nvSpPr>
          <p:cNvPr id="12" name="Text 9"/>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3 · 3.3a</a:t>
            </a:r>
            <a:endParaRPr lang="en-US" sz="1000" dirty="0"/>
          </a:p>
        </p:txBody>
      </p:sp>
      <p:sp>
        <p:nvSpPr>
          <p:cNvPr id="13" name="Text 10"/>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2500" b="1" dirty="0">
                <a:solidFill>
                  <a:srgbClr val="122A48"/>
                </a:solidFill>
                <a:latin typeface="Cambria" pitchFamily="34" charset="0"/>
                <a:ea typeface="Cambria" pitchFamily="34" charset="-122"/>
                <a:cs typeface="Cambria" pitchFamily="34" charset="-120"/>
              </a:rPr>
              <a:t>El problema de minimización de costos</a:t>
            </a:r>
            <a:endParaRPr lang="en-US" sz="2500" dirty="0"/>
          </a:p>
        </p:txBody>
      </p:sp>
      <p:sp>
        <p:nvSpPr>
          <p:cNvPr id="3" name="Shape 1"/>
          <p:cNvSpPr/>
          <p:nvPr/>
        </p:nvSpPr>
        <p:spPr>
          <a:xfrm>
            <a:off x="548640" y="1463040"/>
            <a:ext cx="11064240" cy="1051560"/>
          </a:xfrm>
          <a:prstGeom prst="rect">
            <a:avLst/>
          </a:prstGeom>
          <a:solidFill>
            <a:srgbClr val="E9F1FB"/>
          </a:solidFill>
          <a:ln/>
        </p:spPr>
      </p:sp>
      <p:sp>
        <p:nvSpPr>
          <p:cNvPr id="4" name="Text 2"/>
          <p:cNvSpPr/>
          <p:nvPr/>
        </p:nvSpPr>
        <p:spPr>
          <a:xfrm>
            <a:off x="822960" y="1463040"/>
            <a:ext cx="10515600" cy="1051560"/>
          </a:xfrm>
          <a:prstGeom prst="rect">
            <a:avLst/>
          </a:prstGeom>
          <a:noFill/>
          <a:ln/>
        </p:spPr>
        <p:txBody>
          <a:bodyPr wrap="square" rtlCol="0" anchor="ctr"/>
          <a:lstStyle/>
          <a:p>
            <a:pPr algn="ctr" indent="0" marL="0">
              <a:buNone/>
            </a:pPr>
            <a:r>
              <a:rPr lang="en-US" sz="2200" b="1" dirty="0">
                <a:solidFill>
                  <a:srgbClr val="122A48"/>
                </a:solidFill>
                <a:latin typeface="Cambria Math" pitchFamily="34" charset="0"/>
                <a:ea typeface="Cambria Math" pitchFamily="34" charset="-122"/>
                <a:cs typeface="Cambria Math" pitchFamily="34" charset="-120"/>
              </a:rPr>
              <a:t>min_{P,J}  c_P·P + c_J·J      s.a.  Q(P,J) = Q̄</a:t>
            </a:r>
            <a:endParaRPr lang="en-US" sz="2200" dirty="0"/>
          </a:p>
        </p:txBody>
      </p:sp>
      <p:sp>
        <p:nvSpPr>
          <p:cNvPr id="5" name="Shape 3"/>
          <p:cNvSpPr/>
          <p:nvPr/>
        </p:nvSpPr>
        <p:spPr>
          <a:xfrm>
            <a:off x="548640" y="2743200"/>
            <a:ext cx="11064240" cy="1051560"/>
          </a:xfrm>
          <a:prstGeom prst="rect">
            <a:avLst/>
          </a:prstGeom>
          <a:solidFill>
            <a:srgbClr val="FAF3E2"/>
          </a:solidFill>
          <a:ln/>
        </p:spPr>
      </p:sp>
      <p:sp>
        <p:nvSpPr>
          <p:cNvPr id="6" name="Text 4"/>
          <p:cNvSpPr/>
          <p:nvPr/>
        </p:nvSpPr>
        <p:spPr>
          <a:xfrm>
            <a:off x="822960" y="2743200"/>
            <a:ext cx="10515600" cy="1051560"/>
          </a:xfrm>
          <a:prstGeom prst="rect">
            <a:avLst/>
          </a:prstGeom>
          <a:noFill/>
          <a:ln/>
        </p:spPr>
        <p:txBody>
          <a:bodyPr wrap="square" rtlCol="0" anchor="ctr"/>
          <a:lstStyle/>
          <a:p>
            <a:pPr algn="ctr" indent="0" marL="0">
              <a:buNone/>
            </a:pPr>
            <a:r>
              <a:rPr lang="en-US" sz="2200" b="1" dirty="0">
                <a:solidFill>
                  <a:srgbClr val="6B4E12"/>
                </a:solidFill>
                <a:latin typeface="Cambria Math" pitchFamily="34" charset="0"/>
                <a:ea typeface="Cambria Math" pitchFamily="34" charset="-122"/>
                <a:cs typeface="Cambria Math" pitchFamily="34" charset="-120"/>
              </a:rPr>
              <a:t>(∂Q/∂P) / (∂Q/∂J)  =  c_P / c_J</a:t>
            </a:r>
            <a:endParaRPr lang="en-US" sz="2200" dirty="0"/>
          </a:p>
        </p:txBody>
      </p:sp>
      <p:sp>
        <p:nvSpPr>
          <p:cNvPr id="7" name="Text 5"/>
          <p:cNvSpPr/>
          <p:nvPr/>
        </p:nvSpPr>
        <p:spPr>
          <a:xfrm>
            <a:off x="548640" y="4023360"/>
            <a:ext cx="11064240" cy="365760"/>
          </a:xfrm>
          <a:prstGeom prst="rect">
            <a:avLst/>
          </a:prstGeom>
          <a:noFill/>
          <a:ln/>
        </p:spPr>
        <p:txBody>
          <a:bodyPr wrap="square" rtlCol="0" anchor="ctr"/>
          <a:lstStyle/>
          <a:p>
            <a:pPr indent="0" marL="0">
              <a:buNone/>
            </a:pPr>
            <a:r>
              <a:rPr lang="en-US" sz="1500" b="1" dirty="0">
                <a:solidFill>
                  <a:srgbClr val="005AB5"/>
                </a:solidFill>
                <a:latin typeface="Calibri" pitchFamily="34" charset="0"/>
                <a:ea typeface="Calibri" pitchFamily="34" charset="-122"/>
                <a:cs typeface="Calibri" pitchFamily="34" charset="-120"/>
              </a:rPr>
              <a:t>Cuando c_P ↓ (IA abarata la predicción), dos efectos simultáneos:</a:t>
            </a:r>
            <a:endParaRPr lang="en-US" sz="1500" dirty="0"/>
          </a:p>
        </p:txBody>
      </p:sp>
      <p:sp>
        <p:nvSpPr>
          <p:cNvPr id="8" name="Shape 6"/>
          <p:cNvSpPr/>
          <p:nvPr/>
        </p:nvSpPr>
        <p:spPr>
          <a:xfrm>
            <a:off x="548640" y="4480560"/>
            <a:ext cx="5394960" cy="1737360"/>
          </a:xfrm>
          <a:prstGeom prst="rect">
            <a:avLst/>
          </a:prstGeom>
          <a:solidFill>
            <a:srgbClr val="F4F6F8"/>
          </a:solidFill>
          <a:ln/>
        </p:spPr>
      </p:sp>
      <p:sp>
        <p:nvSpPr>
          <p:cNvPr id="9" name="Text 7"/>
          <p:cNvSpPr/>
          <p:nvPr/>
        </p:nvSpPr>
        <p:spPr>
          <a:xfrm>
            <a:off x="777240" y="4617720"/>
            <a:ext cx="4937760" cy="365760"/>
          </a:xfrm>
          <a:prstGeom prst="rect">
            <a:avLst/>
          </a:prstGeom>
          <a:noFill/>
          <a:ln/>
        </p:spPr>
        <p:txBody>
          <a:bodyPr wrap="square" rtlCol="0" anchor="ctr"/>
          <a:lstStyle/>
          <a:p>
            <a:pPr indent="0" marL="0">
              <a:buNone/>
            </a:pPr>
            <a:r>
              <a:rPr lang="en-US" sz="1400" b="1" dirty="0">
                <a:solidFill>
                  <a:srgbClr val="122A48"/>
                </a:solidFill>
                <a:latin typeface="Calibri" pitchFamily="34" charset="0"/>
                <a:ea typeface="Calibri" pitchFamily="34" charset="-122"/>
                <a:cs typeface="Calibri" pitchFamily="34" charset="-120"/>
              </a:rPr>
              <a:t>Efecto sustitución</a:t>
            </a:r>
            <a:endParaRPr lang="en-US" sz="1400" dirty="0"/>
          </a:p>
        </p:txBody>
      </p:sp>
      <p:sp>
        <p:nvSpPr>
          <p:cNvPr id="10" name="Text 8"/>
          <p:cNvSpPr/>
          <p:nvPr/>
        </p:nvSpPr>
        <p:spPr>
          <a:xfrm>
            <a:off x="777240" y="4983480"/>
            <a:ext cx="4937760" cy="1097280"/>
          </a:xfrm>
          <a:prstGeom prst="rect">
            <a:avLst/>
          </a:prstGeom>
          <a:noFill/>
          <a:ln/>
        </p:spPr>
        <p:txBody>
          <a:bodyPr wrap="square" rtlCol="0" anchor="ctr"/>
          <a:lstStyle/>
          <a:p>
            <a:pPr indent="0" marL="0">
              <a:buNone/>
            </a:pPr>
            <a:r>
              <a:rPr lang="en-US" sz="1300" dirty="0">
                <a:solidFill>
                  <a:srgbClr val="22272E"/>
                </a:solidFill>
                <a:latin typeface="Calibri" pitchFamily="34" charset="0"/>
                <a:ea typeface="Calibri" pitchFamily="34" charset="-122"/>
                <a:cs typeface="Calibri" pitchFamily="34" charset="-120"/>
              </a:rPr>
              <a:t>A lo largo de la misma isocuanta, se sustituye juicio por predicción.</a:t>
            </a:r>
            <a:endParaRPr lang="en-US" sz="1300" dirty="0"/>
          </a:p>
        </p:txBody>
      </p:sp>
      <p:sp>
        <p:nvSpPr>
          <p:cNvPr id="11" name="Shape 9"/>
          <p:cNvSpPr/>
          <p:nvPr/>
        </p:nvSpPr>
        <p:spPr>
          <a:xfrm>
            <a:off x="6172200" y="4480560"/>
            <a:ext cx="5440680" cy="1737360"/>
          </a:xfrm>
          <a:prstGeom prst="rect">
            <a:avLst/>
          </a:prstGeom>
          <a:solidFill>
            <a:srgbClr val="122A48"/>
          </a:solidFill>
          <a:ln/>
        </p:spPr>
      </p:sp>
      <p:sp>
        <p:nvSpPr>
          <p:cNvPr id="12" name="Text 10"/>
          <p:cNvSpPr/>
          <p:nvPr/>
        </p:nvSpPr>
        <p:spPr>
          <a:xfrm>
            <a:off x="6400800" y="4617720"/>
            <a:ext cx="4937760" cy="365760"/>
          </a:xfrm>
          <a:prstGeom prst="rect">
            <a:avLst/>
          </a:prstGeom>
          <a:noFill/>
          <a:ln/>
        </p:spPr>
        <p:txBody>
          <a:bodyPr wrap="square" rtlCol="0" anchor="ctr"/>
          <a:lstStyle/>
          <a:p>
            <a:pPr indent="0" marL="0">
              <a:buNone/>
            </a:pPr>
            <a:r>
              <a:rPr lang="en-US" sz="1400" b="1" dirty="0">
                <a:solidFill>
                  <a:srgbClr val="E7C978"/>
                </a:solidFill>
                <a:latin typeface="Calibri" pitchFamily="34" charset="0"/>
                <a:ea typeface="Calibri" pitchFamily="34" charset="-122"/>
                <a:cs typeface="Calibri" pitchFamily="34" charset="-120"/>
              </a:rPr>
              <a:t>Efecto escala</a:t>
            </a:r>
            <a:endParaRPr lang="en-US" sz="1400" dirty="0"/>
          </a:p>
        </p:txBody>
      </p:sp>
      <p:sp>
        <p:nvSpPr>
          <p:cNvPr id="13" name="Text 11"/>
          <p:cNvSpPr/>
          <p:nvPr/>
        </p:nvSpPr>
        <p:spPr>
          <a:xfrm>
            <a:off x="6400800" y="4983480"/>
            <a:ext cx="4937760" cy="10972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El volumen total de decisiones producidas aumenta: más decisiones se vuelven rentables de automatizar.</a:t>
            </a:r>
            <a:endParaRPr lang="en-US" sz="1300" dirty="0"/>
          </a:p>
        </p:txBody>
      </p:sp>
      <p:sp>
        <p:nvSpPr>
          <p:cNvPr id="14" name="Text 12"/>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3 · 3.3a</a:t>
            </a:r>
            <a:endParaRPr lang="en-US" sz="1000" dirty="0"/>
          </a:p>
        </p:txBody>
      </p:sp>
      <p:sp>
        <p:nvSpPr>
          <p:cNvPr id="15" name="Text 13"/>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48640"/>
          </a:xfrm>
          <a:prstGeom prst="rect">
            <a:avLst/>
          </a:prstGeom>
          <a:noFill/>
          <a:ln/>
        </p:spPr>
        <p:txBody>
          <a:bodyPr wrap="square" rtlCol="0" anchor="ctr"/>
          <a:lstStyle/>
          <a:p>
            <a:pPr indent="0" marL="0">
              <a:buNone/>
            </a:pPr>
            <a:r>
              <a:rPr lang="en-US" sz="2300" b="1" dirty="0">
                <a:solidFill>
                  <a:srgbClr val="122A48"/>
                </a:solidFill>
                <a:latin typeface="Cambria" pitchFamily="34" charset="0"/>
                <a:ea typeface="Cambria" pitchFamily="34" charset="-122"/>
                <a:cs typeface="Cambria" pitchFamily="34" charset="-120"/>
              </a:rPr>
              <a:t>Figura 4 · Sustitución de juicio por predicción</a:t>
            </a:r>
            <a:endParaRPr lang="en-US" sz="2300" dirty="0"/>
          </a:p>
        </p:txBody>
      </p:sp>
      <p:sp>
        <p:nvSpPr>
          <p:cNvPr id="3" name="Text 1"/>
          <p:cNvSpPr/>
          <p:nvPr/>
        </p:nvSpPr>
        <p:spPr>
          <a:xfrm>
            <a:off x="548640" y="868680"/>
            <a:ext cx="8229600" cy="320040"/>
          </a:xfrm>
          <a:prstGeom prst="rect">
            <a:avLst/>
          </a:prstGeom>
          <a:noFill/>
          <a:ln/>
        </p:spPr>
        <p:txBody>
          <a:bodyPr wrap="square" rtlCol="0" anchor="ctr"/>
          <a:lstStyle/>
          <a:p>
            <a:pPr indent="0" marL="0">
              <a:buNone/>
            </a:pPr>
            <a:r>
              <a:rPr lang="en-US" sz="1200" i="1" dirty="0">
                <a:solidFill>
                  <a:srgbClr val="5A626C"/>
                </a:solidFill>
                <a:latin typeface="Calibri" pitchFamily="34" charset="0"/>
                <a:ea typeface="Calibri" pitchFamily="34" charset="-122"/>
                <a:cs typeface="Calibri" pitchFamily="34" charset="-120"/>
              </a:rPr>
              <a:t>Agrawal, Gans y Goldfarb (2018); Gans (2025)</a:t>
            </a:r>
            <a:endParaRPr lang="en-US" sz="1200" dirty="0"/>
          </a:p>
        </p:txBody>
      </p:sp>
      <p:graphicFrame>
        <p:nvGraphicFramePr>
          <p:cNvPr id="4" name="Chart 0" descr=""/>
          <p:cNvGraphicFramePr/>
          <p:nvPr/>
        </p:nvGraphicFramePr>
        <p:xfrm>
          <a:off x="548640" y="1280160"/>
          <a:ext cx="11064240" cy="46634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3 · 3.3a</a:t>
            </a:r>
            <a:endParaRPr lang="en-US" sz="1000" dirty="0"/>
          </a:p>
        </p:txBody>
      </p:sp>
      <p:sp>
        <p:nvSpPr>
          <p:cNvPr id="6" name="Text 3"/>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A48"/>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C3A5E"/>
          </a:solidFill>
          <a:ln/>
        </p:spPr>
      </p:sp>
      <p:sp>
        <p:nvSpPr>
          <p:cNvPr id="3" name="Text 1"/>
          <p:cNvSpPr/>
          <p:nvPr/>
        </p:nvSpPr>
        <p:spPr>
          <a:xfrm>
            <a:off x="0" y="0"/>
            <a:ext cx="4206240" cy="6858000"/>
          </a:xfrm>
          <a:prstGeom prst="rect">
            <a:avLst/>
          </a:prstGeom>
          <a:noFill/>
          <a:ln/>
        </p:spPr>
        <p:txBody>
          <a:bodyPr wrap="square" rtlCol="0" anchor="ctr"/>
          <a:lstStyle/>
          <a:p>
            <a:pPr algn="ctr" indent="0" marL="0">
              <a:buNone/>
            </a:pPr>
            <a:r>
              <a:rPr lang="en-US" sz="8200" b="1" dirty="0">
                <a:solidFill>
                  <a:srgbClr val="C99735"/>
                </a:solidFill>
                <a:latin typeface="Cambria" pitchFamily="34" charset="0"/>
                <a:ea typeface="Cambria" pitchFamily="34" charset="-122"/>
                <a:cs typeface="Cambria" pitchFamily="34" charset="-120"/>
              </a:rPr>
              <a:t>3.3b</a:t>
            </a:r>
            <a:endParaRPr lang="en-US" sz="8200" dirty="0"/>
          </a:p>
        </p:txBody>
      </p:sp>
      <p:sp>
        <p:nvSpPr>
          <p:cNvPr id="4" name="Text 2"/>
          <p:cNvSpPr/>
          <p:nvPr/>
        </p:nvSpPr>
        <p:spPr>
          <a:xfrm>
            <a:off x="4663440" y="2331720"/>
            <a:ext cx="6949440" cy="14630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Tres efectos de sistema</a:t>
            </a:r>
            <a:endParaRPr lang="en-US" sz="3200" dirty="0"/>
          </a:p>
        </p:txBody>
      </p:sp>
      <p:sp>
        <p:nvSpPr>
          <p:cNvPr id="5" name="Text 3"/>
          <p:cNvSpPr/>
          <p:nvPr/>
        </p:nvSpPr>
        <p:spPr>
          <a:xfrm>
            <a:off x="4663440" y="3703320"/>
            <a:ext cx="6949440" cy="914400"/>
          </a:xfrm>
          <a:prstGeom prst="rect">
            <a:avLst/>
          </a:prstGeom>
          <a:noFill/>
          <a:ln/>
        </p:spPr>
        <p:txBody>
          <a:bodyPr wrap="square" rtlCol="0" anchor="ctr"/>
          <a:lstStyle/>
          <a:p>
            <a:pPr indent="0" marL="0">
              <a:buNone/>
            </a:pPr>
            <a:r>
              <a:rPr lang="en-US" sz="1600" i="1" dirty="0">
                <a:solidFill>
                  <a:srgbClr val="C7D3E2"/>
                </a:solidFill>
                <a:latin typeface="Calibri" pitchFamily="34" charset="0"/>
                <a:ea typeface="Calibri" pitchFamily="34" charset="-122"/>
                <a:cs typeface="Calibri" pitchFamily="34" charset="-120"/>
              </a:rPr>
              <a:t>Bullwhip, alineación, y complementos/sustitutos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94360"/>
          </a:xfrm>
          <a:prstGeom prst="rect">
            <a:avLst/>
          </a:prstGeom>
          <a:noFill/>
          <a:ln/>
        </p:spPr>
        <p:txBody>
          <a:bodyPr wrap="square" rtlCol="0" anchor="ctr"/>
          <a:lstStyle/>
          <a:p>
            <a:pPr indent="0" marL="0">
              <a:buNone/>
            </a:pPr>
            <a:r>
              <a:rPr lang="en-US" sz="2300" b="1" dirty="0">
                <a:solidFill>
                  <a:srgbClr val="122A48"/>
                </a:solidFill>
                <a:latin typeface="Cambria" pitchFamily="34" charset="0"/>
                <a:ea typeface="Cambria" pitchFamily="34" charset="-122"/>
                <a:cs typeface="Cambria" pitchFamily="34" charset="-120"/>
              </a:rPr>
              <a:t>Del nivel individual al nivel de mercado</a:t>
            </a:r>
            <a:endParaRPr lang="en-US" sz="2300" dirty="0"/>
          </a:p>
        </p:txBody>
      </p:sp>
      <p:sp>
        <p:nvSpPr>
          <p:cNvPr id="3" name="Shape 1"/>
          <p:cNvSpPr/>
          <p:nvPr/>
        </p:nvSpPr>
        <p:spPr>
          <a:xfrm>
            <a:off x="548640" y="1143000"/>
            <a:ext cx="11064240" cy="1508760"/>
          </a:xfrm>
          <a:prstGeom prst="rect">
            <a:avLst/>
          </a:prstGeom>
          <a:solidFill>
            <a:srgbClr val="E9F1FB"/>
          </a:solidFill>
          <a:ln/>
        </p:spPr>
      </p:sp>
      <p:sp>
        <p:nvSpPr>
          <p:cNvPr id="4" name="Shape 2"/>
          <p:cNvSpPr/>
          <p:nvPr/>
        </p:nvSpPr>
        <p:spPr>
          <a:xfrm>
            <a:off x="777240" y="1645920"/>
            <a:ext cx="502920" cy="502920"/>
          </a:xfrm>
          <a:prstGeom prst="ellipse">
            <a:avLst/>
          </a:prstGeom>
          <a:solidFill>
            <a:srgbClr val="C99735"/>
          </a:solidFill>
          <a:ln/>
        </p:spPr>
      </p:sp>
      <p:sp>
        <p:nvSpPr>
          <p:cNvPr id="5" name="Text 3"/>
          <p:cNvSpPr/>
          <p:nvPr/>
        </p:nvSpPr>
        <p:spPr>
          <a:xfrm>
            <a:off x="777240" y="1645920"/>
            <a:ext cx="502920" cy="502920"/>
          </a:xfrm>
          <a:prstGeom prst="rect">
            <a:avLst/>
          </a:prstGeom>
          <a:noFill/>
          <a:ln/>
        </p:spPr>
        <p:txBody>
          <a:bodyPr wrap="square" rtlCol="0" anchor="ctr"/>
          <a:lstStyle/>
          <a:p>
            <a:pPr algn="ctr" indent="0" marL="0">
              <a:buNone/>
            </a:pPr>
            <a:r>
              <a:rPr lang="en-US" sz="2000" b="1" dirty="0">
                <a:solidFill>
                  <a:srgbClr val="122A48"/>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508760" y="1280160"/>
            <a:ext cx="3108960" cy="1234440"/>
          </a:xfrm>
          <a:prstGeom prst="rect">
            <a:avLst/>
          </a:prstGeom>
          <a:noFill/>
          <a:ln/>
        </p:spPr>
        <p:txBody>
          <a:bodyPr wrap="square" rtlCol="0" anchor="ctr"/>
          <a:lstStyle/>
          <a:p>
            <a:pPr indent="0" marL="0">
              <a:buNone/>
            </a:pPr>
            <a:r>
              <a:rPr lang="en-US" sz="1450" b="1" dirty="0">
                <a:solidFill>
                  <a:srgbClr val="122A48"/>
                </a:solidFill>
                <a:latin typeface="Cambria" pitchFamily="34" charset="0"/>
                <a:ea typeface="Cambria" pitchFamily="34" charset="-122"/>
                <a:cs typeface="Cambria" pitchFamily="34" charset="-120"/>
              </a:rPr>
              <a:t>Efecto bullwhip de la IA</a:t>
            </a:r>
            <a:endParaRPr lang="en-US" sz="1450" dirty="0"/>
          </a:p>
        </p:txBody>
      </p:sp>
      <p:sp>
        <p:nvSpPr>
          <p:cNvPr id="7" name="Text 5"/>
          <p:cNvSpPr/>
          <p:nvPr/>
        </p:nvSpPr>
        <p:spPr>
          <a:xfrm>
            <a:off x="4754880" y="1280160"/>
            <a:ext cx="6675120" cy="1234440"/>
          </a:xfrm>
          <a:prstGeom prst="rect">
            <a:avLst/>
          </a:prstGeom>
          <a:noFill/>
          <a:ln/>
        </p:spPr>
        <p:txBody>
          <a:bodyPr wrap="square" rtlCol="0" anchor="ctr"/>
          <a:lstStyle/>
          <a:p>
            <a:pPr indent="0" marL="0">
              <a:buNone/>
            </a:pPr>
            <a:r>
              <a:rPr lang="en-US" sz="1250" dirty="0">
                <a:solidFill>
                  <a:srgbClr val="22272E"/>
                </a:solidFill>
                <a:latin typeface="Calibri" pitchFamily="34" charset="0"/>
                <a:ea typeface="Calibri" pitchFamily="34" charset="-122"/>
                <a:cs typeface="Calibri" pitchFamily="34" charset="-120"/>
              </a:rPr>
              <a:t>Un sesgo sistemático en un modelo ampliamente adoptado se amplifica a través de decisiones interdependientes, en vez de promediarse como con juicios heterogéneos. Conecta con la Lectura [5].</a:t>
            </a:r>
            <a:endParaRPr lang="en-US" sz="1250" dirty="0"/>
          </a:p>
        </p:txBody>
      </p:sp>
      <p:sp>
        <p:nvSpPr>
          <p:cNvPr id="8" name="Shape 6"/>
          <p:cNvSpPr/>
          <p:nvPr/>
        </p:nvSpPr>
        <p:spPr>
          <a:xfrm>
            <a:off x="548640" y="2743200"/>
            <a:ext cx="11064240" cy="1508760"/>
          </a:xfrm>
          <a:prstGeom prst="rect">
            <a:avLst/>
          </a:prstGeom>
          <a:solidFill>
            <a:srgbClr val="FAF3E2"/>
          </a:solidFill>
          <a:ln/>
        </p:spPr>
      </p:sp>
      <p:sp>
        <p:nvSpPr>
          <p:cNvPr id="9" name="Shape 7"/>
          <p:cNvSpPr/>
          <p:nvPr/>
        </p:nvSpPr>
        <p:spPr>
          <a:xfrm>
            <a:off x="777240" y="3246120"/>
            <a:ext cx="502920" cy="502920"/>
          </a:xfrm>
          <a:prstGeom prst="ellipse">
            <a:avLst/>
          </a:prstGeom>
          <a:solidFill>
            <a:srgbClr val="C99735"/>
          </a:solidFill>
          <a:ln/>
        </p:spPr>
      </p:sp>
      <p:sp>
        <p:nvSpPr>
          <p:cNvPr id="10" name="Text 8"/>
          <p:cNvSpPr/>
          <p:nvPr/>
        </p:nvSpPr>
        <p:spPr>
          <a:xfrm>
            <a:off x="777240" y="3246120"/>
            <a:ext cx="502920" cy="502920"/>
          </a:xfrm>
          <a:prstGeom prst="rect">
            <a:avLst/>
          </a:prstGeom>
          <a:noFill/>
          <a:ln/>
        </p:spPr>
        <p:txBody>
          <a:bodyPr wrap="square" rtlCol="0" anchor="ctr"/>
          <a:lstStyle/>
          <a:p>
            <a:pPr algn="ctr" indent="0" marL="0">
              <a:buNone/>
            </a:pPr>
            <a:r>
              <a:rPr lang="en-US" sz="2000" b="1" dirty="0">
                <a:solidFill>
                  <a:srgbClr val="122A48"/>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508760" y="2880360"/>
            <a:ext cx="3108960" cy="1234440"/>
          </a:xfrm>
          <a:prstGeom prst="rect">
            <a:avLst/>
          </a:prstGeom>
          <a:noFill/>
          <a:ln/>
        </p:spPr>
        <p:txBody>
          <a:bodyPr wrap="square" rtlCol="0" anchor="ctr"/>
          <a:lstStyle/>
          <a:p>
            <a:pPr indent="0" marL="0">
              <a:buNone/>
            </a:pPr>
            <a:r>
              <a:rPr lang="en-US" sz="1450" b="1" dirty="0">
                <a:solidFill>
                  <a:srgbClr val="122A48"/>
                </a:solidFill>
                <a:latin typeface="Cambria" pitchFamily="34" charset="0"/>
                <a:ea typeface="Cambria" pitchFamily="34" charset="-122"/>
                <a:cs typeface="Cambria" pitchFamily="34" charset="-120"/>
              </a:rPr>
              <a:t>Alineación como problema de agencia</a:t>
            </a:r>
            <a:endParaRPr lang="en-US" sz="1450" dirty="0"/>
          </a:p>
        </p:txBody>
      </p:sp>
      <p:sp>
        <p:nvSpPr>
          <p:cNvPr id="12" name="Text 10"/>
          <p:cNvSpPr/>
          <p:nvPr/>
        </p:nvSpPr>
        <p:spPr>
          <a:xfrm>
            <a:off x="4754880" y="2880360"/>
            <a:ext cx="6675120" cy="1234440"/>
          </a:xfrm>
          <a:prstGeom prst="rect">
            <a:avLst/>
          </a:prstGeom>
          <a:noFill/>
          <a:ln/>
        </p:spPr>
        <p:txBody>
          <a:bodyPr wrap="square" rtlCol="0" anchor="ctr"/>
          <a:lstStyle/>
          <a:p>
            <a:pPr indent="0" marL="0">
              <a:buNone/>
            </a:pPr>
            <a:r>
              <a:rPr lang="en-US" sz="1250" dirty="0">
                <a:solidFill>
                  <a:srgbClr val="22272E"/>
                </a:solidFill>
                <a:latin typeface="Calibri" pitchFamily="34" charset="0"/>
                <a:ea typeface="Calibri" pitchFamily="34" charset="-122"/>
                <a:cs typeface="Calibri" pitchFamily="34" charset="-120"/>
              </a:rPr>
              <a:t>La relación entre quien entrena el sistema (agente) y quien confía en sus recomendaciones (principal) reproduce un problema de riesgo moral con acción oculta.</a:t>
            </a:r>
            <a:endParaRPr lang="en-US" sz="1250" dirty="0"/>
          </a:p>
        </p:txBody>
      </p:sp>
      <p:sp>
        <p:nvSpPr>
          <p:cNvPr id="13" name="Shape 11"/>
          <p:cNvSpPr/>
          <p:nvPr/>
        </p:nvSpPr>
        <p:spPr>
          <a:xfrm>
            <a:off x="548640" y="4343400"/>
            <a:ext cx="11064240" cy="1508760"/>
          </a:xfrm>
          <a:prstGeom prst="rect">
            <a:avLst/>
          </a:prstGeom>
          <a:solidFill>
            <a:srgbClr val="E9F6EF"/>
          </a:solidFill>
          <a:ln/>
        </p:spPr>
      </p:sp>
      <p:sp>
        <p:nvSpPr>
          <p:cNvPr id="14" name="Shape 12"/>
          <p:cNvSpPr/>
          <p:nvPr/>
        </p:nvSpPr>
        <p:spPr>
          <a:xfrm>
            <a:off x="777240" y="4846320"/>
            <a:ext cx="502920" cy="502920"/>
          </a:xfrm>
          <a:prstGeom prst="ellipse">
            <a:avLst/>
          </a:prstGeom>
          <a:solidFill>
            <a:srgbClr val="C99735"/>
          </a:solidFill>
          <a:ln/>
        </p:spPr>
      </p:sp>
      <p:sp>
        <p:nvSpPr>
          <p:cNvPr id="15" name="Text 13"/>
          <p:cNvSpPr/>
          <p:nvPr/>
        </p:nvSpPr>
        <p:spPr>
          <a:xfrm>
            <a:off x="777240" y="4846320"/>
            <a:ext cx="502920" cy="502920"/>
          </a:xfrm>
          <a:prstGeom prst="rect">
            <a:avLst/>
          </a:prstGeom>
          <a:noFill/>
          <a:ln/>
        </p:spPr>
        <p:txBody>
          <a:bodyPr wrap="square" rtlCol="0" anchor="ctr"/>
          <a:lstStyle/>
          <a:p>
            <a:pPr algn="ctr" indent="0" marL="0">
              <a:buNone/>
            </a:pPr>
            <a:r>
              <a:rPr lang="en-US" sz="2000" b="1" dirty="0">
                <a:solidFill>
                  <a:srgbClr val="122A48"/>
                </a:solidFill>
                <a:latin typeface="Cambria" pitchFamily="34" charset="0"/>
                <a:ea typeface="Cambria" pitchFamily="34" charset="-122"/>
                <a:cs typeface="Cambria" pitchFamily="34" charset="-120"/>
              </a:rPr>
              <a:t>3</a:t>
            </a:r>
            <a:endParaRPr lang="en-US" sz="2000" dirty="0"/>
          </a:p>
        </p:txBody>
      </p:sp>
      <p:sp>
        <p:nvSpPr>
          <p:cNvPr id="16" name="Text 14"/>
          <p:cNvSpPr/>
          <p:nvPr/>
        </p:nvSpPr>
        <p:spPr>
          <a:xfrm>
            <a:off x="1508760" y="4480560"/>
            <a:ext cx="3108960" cy="1234440"/>
          </a:xfrm>
          <a:prstGeom prst="rect">
            <a:avLst/>
          </a:prstGeom>
          <a:noFill/>
          <a:ln/>
        </p:spPr>
        <p:txBody>
          <a:bodyPr wrap="square" rtlCol="0" anchor="ctr"/>
          <a:lstStyle/>
          <a:p>
            <a:pPr indent="0" marL="0">
              <a:buNone/>
            </a:pPr>
            <a:r>
              <a:rPr lang="en-US" sz="1450" b="1" dirty="0">
                <a:solidFill>
                  <a:srgbClr val="122A48"/>
                </a:solidFill>
                <a:latin typeface="Cambria" pitchFamily="34" charset="0"/>
                <a:ea typeface="Cambria" pitchFamily="34" charset="-122"/>
                <a:cs typeface="Cambria" pitchFamily="34" charset="-120"/>
              </a:rPr>
              <a:t>Complementos y sustitutos del juicio</a:t>
            </a:r>
            <a:endParaRPr lang="en-US" sz="1450" dirty="0"/>
          </a:p>
        </p:txBody>
      </p:sp>
      <p:sp>
        <p:nvSpPr>
          <p:cNvPr id="17" name="Text 15"/>
          <p:cNvSpPr/>
          <p:nvPr/>
        </p:nvSpPr>
        <p:spPr>
          <a:xfrm>
            <a:off x="4754880" y="4480560"/>
            <a:ext cx="6675120" cy="1234440"/>
          </a:xfrm>
          <a:prstGeom prst="rect">
            <a:avLst/>
          </a:prstGeom>
          <a:noFill/>
          <a:ln/>
        </p:spPr>
        <p:txBody>
          <a:bodyPr wrap="square" rtlCol="0" anchor="ctr"/>
          <a:lstStyle/>
          <a:p>
            <a:pPr indent="0" marL="0">
              <a:buNone/>
            </a:pPr>
            <a:r>
              <a:rPr lang="en-US" sz="1250" dirty="0">
                <a:solidFill>
                  <a:srgbClr val="22272E"/>
                </a:solidFill>
                <a:latin typeface="Calibri" pitchFamily="34" charset="0"/>
                <a:ea typeface="Calibri" pitchFamily="34" charset="-122"/>
                <a:cs typeface="Calibri" pitchFamily="34" charset="-120"/>
              </a:rPr>
              <a:t>No es si la IA “sustituye humanos”, sino en qué margen P y J son sustitutos (Fig. 4) y en qué margen son complementarios (∂²Q/∂P∂J &gt; 0).</a:t>
            </a:r>
            <a:endParaRPr lang="en-US" sz="1250" dirty="0"/>
          </a:p>
        </p:txBody>
      </p:sp>
      <p:sp>
        <p:nvSpPr>
          <p:cNvPr id="18" name="Text 16"/>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4 · 3.3b</a:t>
            </a:r>
            <a:endParaRPr lang="en-US" sz="1000" dirty="0"/>
          </a:p>
        </p:txBody>
      </p:sp>
      <p:sp>
        <p:nvSpPr>
          <p:cNvPr id="19" name="Text 17"/>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48640" y="411480"/>
            <a:ext cx="11155680" cy="640080"/>
          </a:xfrm>
          <a:prstGeom prst="rect">
            <a:avLst/>
          </a:prstGeom>
          <a:noFill/>
          <a:ln/>
        </p:spPr>
        <p:txBody>
          <a:bodyPr wrap="square" rtlCol="0" anchor="ctr"/>
          <a:lstStyle/>
          <a:p>
            <a:pPr indent="0" marL="0">
              <a:buNone/>
            </a:pPr>
            <a:r>
              <a:rPr lang="en-US" sz="2600" b="1" dirty="0">
                <a:solidFill>
                  <a:srgbClr val="122A48"/>
                </a:solidFill>
                <a:latin typeface="Cambria" pitchFamily="34" charset="0"/>
                <a:ea typeface="Cambria" pitchFamily="34" charset="-122"/>
                <a:cs typeface="Cambria" pitchFamily="34" charset="-120"/>
              </a:rPr>
              <a:t>Caso: radiología asistida por IA</a:t>
            </a:r>
            <a:endParaRPr lang="en-US" sz="2600" dirty="0"/>
          </a:p>
        </p:txBody>
      </p:sp>
      <p:sp>
        <p:nvSpPr>
          <p:cNvPr id="3" name="Text 1"/>
          <p:cNvSpPr/>
          <p:nvPr/>
        </p:nvSpPr>
        <p:spPr>
          <a:xfrm>
            <a:off x="548640" y="960120"/>
            <a:ext cx="9144000" cy="365760"/>
          </a:xfrm>
          <a:prstGeom prst="rect">
            <a:avLst/>
          </a:prstGeom>
          <a:noFill/>
          <a:ln/>
        </p:spPr>
        <p:txBody>
          <a:bodyPr wrap="square" rtlCol="0" anchor="ctr"/>
          <a:lstStyle/>
          <a:p>
            <a:pPr indent="0" marL="0">
              <a:buNone/>
            </a:pPr>
            <a:r>
              <a:rPr lang="en-US" sz="1300" i="1" dirty="0">
                <a:solidFill>
                  <a:srgbClr val="5A626C"/>
                </a:solidFill>
                <a:latin typeface="Calibri" pitchFamily="34" charset="0"/>
                <a:ea typeface="Calibri" pitchFamily="34" charset="-122"/>
                <a:cs typeface="Calibri" pitchFamily="34" charset="-120"/>
              </a:rPr>
              <a:t>Agarwal, Moehring, Rajpurkar y Salz (2023, NBER)</a:t>
            </a:r>
            <a:endParaRPr lang="en-US" sz="1300" dirty="0"/>
          </a:p>
        </p:txBody>
      </p:sp>
      <p:sp>
        <p:nvSpPr>
          <p:cNvPr id="4" name="Shape 2"/>
          <p:cNvSpPr/>
          <p:nvPr/>
        </p:nvSpPr>
        <p:spPr>
          <a:xfrm>
            <a:off x="640080" y="1554480"/>
            <a:ext cx="10881360" cy="1737360"/>
          </a:xfrm>
          <a:prstGeom prst="rect">
            <a:avLst/>
          </a:prstGeom>
          <a:solidFill>
            <a:srgbClr val="FFFFFF"/>
          </a:solidFill>
          <a:ln w="12700">
            <a:solidFill>
              <a:srgbClr val="DDE3E9"/>
            </a:solidFill>
            <a:prstDash val="solid"/>
          </a:ln>
        </p:spPr>
      </p:sp>
      <p:sp>
        <p:nvSpPr>
          <p:cNvPr id="5" name="Text 3"/>
          <p:cNvSpPr/>
          <p:nvPr/>
        </p:nvSpPr>
        <p:spPr>
          <a:xfrm>
            <a:off x="914400" y="1691640"/>
            <a:ext cx="10332720" cy="1463040"/>
          </a:xfrm>
          <a:prstGeom prst="rect">
            <a:avLst/>
          </a:prstGeom>
          <a:noFill/>
          <a:ln/>
        </p:spPr>
        <p:txBody>
          <a:bodyPr wrap="square" rtlCol="0" anchor="ctr"/>
          <a:lstStyle/>
          <a:p>
            <a:pPr indent="0" marL="0">
              <a:lnSpc>
                <a:spcPts val="2100"/>
              </a:lnSpc>
              <a:buNone/>
            </a:pPr>
            <a:r>
              <a:rPr lang="en-US" sz="1550" dirty="0">
                <a:solidFill>
                  <a:srgbClr val="22272E"/>
                </a:solidFill>
                <a:latin typeface="Calibri" pitchFamily="34" charset="0"/>
                <a:ea typeface="Calibri" pitchFamily="34" charset="-122"/>
                <a:cs typeface="Calibri" pitchFamily="34" charset="-120"/>
              </a:rPr>
              <a:t>Combinar predicción algorítmica con juicio clínico humano no siempre supera a la mejor de las dos fuentes por separado: el desempeño conjunto depende de si el médico puede discriminar cuándo confiar más en el algoritmo.</a:t>
            </a:r>
            <a:endParaRPr lang="en-US" sz="1550" dirty="0"/>
          </a:p>
        </p:txBody>
      </p:sp>
      <p:sp>
        <p:nvSpPr>
          <p:cNvPr id="6" name="Shape 4"/>
          <p:cNvSpPr/>
          <p:nvPr/>
        </p:nvSpPr>
        <p:spPr>
          <a:xfrm>
            <a:off x="640080" y="3474720"/>
            <a:ext cx="10881360" cy="2011680"/>
          </a:xfrm>
          <a:prstGeom prst="rect">
            <a:avLst/>
          </a:prstGeom>
          <a:solidFill>
            <a:srgbClr val="FAF3E2"/>
          </a:solidFill>
          <a:ln/>
        </p:spPr>
      </p:sp>
      <p:sp>
        <p:nvSpPr>
          <p:cNvPr id="7" name="Text 5"/>
          <p:cNvSpPr/>
          <p:nvPr/>
        </p:nvSpPr>
        <p:spPr>
          <a:xfrm>
            <a:off x="914400" y="3639312"/>
            <a:ext cx="10332720" cy="365760"/>
          </a:xfrm>
          <a:prstGeom prst="rect">
            <a:avLst/>
          </a:prstGeom>
          <a:noFill/>
          <a:ln/>
        </p:spPr>
        <p:txBody>
          <a:bodyPr wrap="square" rtlCol="0" anchor="ctr"/>
          <a:lstStyle/>
          <a:p>
            <a:pPr indent="0" marL="0">
              <a:buNone/>
            </a:pPr>
            <a:r>
              <a:rPr lang="en-US" sz="1500" b="1" dirty="0">
                <a:solidFill>
                  <a:srgbClr val="6B4E12"/>
                </a:solidFill>
                <a:latin typeface="Calibri" pitchFamily="34" charset="0"/>
                <a:ea typeface="Calibri" pitchFamily="34" charset="-122"/>
                <a:cs typeface="Calibri" pitchFamily="34" charset="-120"/>
              </a:rPr>
              <a:t>Discuta:</a:t>
            </a:r>
            <a:endParaRPr lang="en-US" sz="1500" dirty="0"/>
          </a:p>
        </p:txBody>
      </p:sp>
      <p:sp>
        <p:nvSpPr>
          <p:cNvPr id="8" name="Text 6"/>
          <p:cNvSpPr/>
          <p:nvPr/>
        </p:nvSpPr>
        <p:spPr>
          <a:xfrm>
            <a:off x="914400" y="4023360"/>
            <a:ext cx="10332720" cy="1371600"/>
          </a:xfrm>
          <a:prstGeom prst="rect">
            <a:avLst/>
          </a:prstGeom>
          <a:noFill/>
          <a:ln/>
        </p:spPr>
        <p:txBody>
          <a:bodyPr wrap="square" rtlCol="0" anchor="ctr"/>
          <a:lstStyle/>
          <a:p>
            <a:pPr indent="0" marL="0">
              <a:lnSpc>
                <a:spcPts val="2100"/>
              </a:lnSpc>
              <a:buNone/>
            </a:pPr>
            <a:r>
              <a:rPr lang="en-US" sz="1500" i="1" dirty="0">
                <a:solidFill>
                  <a:srgbClr val="22272E"/>
                </a:solidFill>
                <a:latin typeface="Calibri" pitchFamily="34" charset="0"/>
                <a:ea typeface="Calibri" pitchFamily="34" charset="-122"/>
                <a:cs typeface="Calibri" pitchFamily="34" charset="-120"/>
              </a:rPr>
              <a:t>¿Qué implica este resultado para el diseño organizacional de la complementariedad predicción–juicio en su propio sector? La complementariedad P–J no es automática: requiere que el humano sepa cuándo su juicio agrega valor.</a:t>
            </a:r>
            <a:endParaRPr lang="en-US" sz="1500" dirty="0"/>
          </a:p>
        </p:txBody>
      </p:sp>
      <p:sp>
        <p:nvSpPr>
          <p:cNvPr id="9" name="Text 7"/>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4 · 3.3b</a:t>
            </a:r>
            <a:endParaRPr lang="en-US" sz="1000" dirty="0"/>
          </a:p>
        </p:txBody>
      </p:sp>
      <p:sp>
        <p:nvSpPr>
          <p:cNvPr id="10" name="Text 8"/>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155680" cy="640080"/>
          </a:xfrm>
          <a:prstGeom prst="rect">
            <a:avLst/>
          </a:prstGeom>
          <a:noFill/>
          <a:ln/>
        </p:spPr>
        <p:txBody>
          <a:bodyPr wrap="square" rtlCol="0" anchor="ctr"/>
          <a:lstStyle/>
          <a:p>
            <a:pPr indent="0" marL="0">
              <a:buNone/>
            </a:pPr>
            <a:r>
              <a:rPr lang="en-US" sz="2200" b="1" dirty="0">
                <a:solidFill>
                  <a:srgbClr val="122A48"/>
                </a:solidFill>
                <a:latin typeface="Cambria" pitchFamily="34" charset="0"/>
                <a:ea typeface="Cambria" pitchFamily="34" charset="-122"/>
                <a:cs typeface="Cambria" pitchFamily="34" charset="-120"/>
              </a:rPr>
              <a:t>3.3c · Precio de la predicción y estructura de mercado</a:t>
            </a:r>
            <a:endParaRPr lang="en-US" sz="2200" dirty="0"/>
          </a:p>
        </p:txBody>
      </p:sp>
      <p:sp>
        <p:nvSpPr>
          <p:cNvPr id="3" name="Shape 1"/>
          <p:cNvSpPr/>
          <p:nvPr/>
        </p:nvSpPr>
        <p:spPr>
          <a:xfrm>
            <a:off x="548640" y="1371600"/>
            <a:ext cx="11064240" cy="1051560"/>
          </a:xfrm>
          <a:prstGeom prst="rect">
            <a:avLst/>
          </a:prstGeom>
          <a:solidFill>
            <a:srgbClr val="E9F1FB"/>
          </a:solidFill>
          <a:ln/>
        </p:spPr>
      </p:sp>
      <p:sp>
        <p:nvSpPr>
          <p:cNvPr id="4" name="Text 2"/>
          <p:cNvSpPr/>
          <p:nvPr/>
        </p:nvSpPr>
        <p:spPr>
          <a:xfrm>
            <a:off x="822960" y="1371600"/>
            <a:ext cx="10515600" cy="1051560"/>
          </a:xfrm>
          <a:prstGeom prst="rect">
            <a:avLst/>
          </a:prstGeom>
          <a:noFill/>
          <a:ln/>
        </p:spPr>
        <p:txBody>
          <a:bodyPr wrap="square" rtlCol="0" anchor="ctr"/>
          <a:lstStyle/>
          <a:p>
            <a:pPr algn="ctr" indent="0" marL="0">
              <a:buNone/>
            </a:pPr>
            <a:r>
              <a:rPr lang="en-US" sz="2000" b="1" dirty="0">
                <a:solidFill>
                  <a:srgbClr val="122A48"/>
                </a:solidFill>
                <a:latin typeface="Cambria Math" pitchFamily="34" charset="0"/>
                <a:ea typeface="Cambria Math" pitchFamily="34" charset="-122"/>
                <a:cs typeface="Cambria Math" pitchFamily="34" charset="-120"/>
              </a:rPr>
              <a:t>Estructura de costos de un modelo de IA:   F_IA alto,   c_IA → 0</a:t>
            </a:r>
            <a:endParaRPr lang="en-US" sz="2000" dirty="0"/>
          </a:p>
        </p:txBody>
      </p:sp>
      <p:sp>
        <p:nvSpPr>
          <p:cNvPr id="5" name="Text 3"/>
          <p:cNvSpPr/>
          <p:nvPr/>
        </p:nvSpPr>
        <p:spPr>
          <a:xfrm>
            <a:off x="548640" y="2514600"/>
            <a:ext cx="11064240" cy="457200"/>
          </a:xfrm>
          <a:prstGeom prst="rect">
            <a:avLst/>
          </a:prstGeom>
          <a:noFill/>
          <a:ln/>
        </p:spPr>
        <p:txBody>
          <a:bodyPr wrap="square" rtlCol="0" anchor="ctr"/>
          <a:lstStyle/>
          <a:p>
            <a:pPr algn="ctr" indent="0" marL="0">
              <a:buNone/>
            </a:pPr>
            <a:r>
              <a:rPr lang="en-US" sz="1400" i="1" dirty="0">
                <a:solidFill>
                  <a:srgbClr val="5A626C"/>
                </a:solidFill>
                <a:latin typeface="Calibri" pitchFamily="34" charset="0"/>
                <a:ea typeface="Calibri" pitchFamily="34" charset="-122"/>
                <a:cs typeface="Calibri" pitchFamily="34" charset="-120"/>
              </a:rPr>
              <a:t>— formalmente idéntica a la estructura de costos de bienes digitales de la Sesión 1 (Figura 1).</a:t>
            </a:r>
            <a:endParaRPr lang="en-US" sz="1400" dirty="0"/>
          </a:p>
        </p:txBody>
      </p:sp>
      <p:sp>
        <p:nvSpPr>
          <p:cNvPr id="6" name="Text 4"/>
          <p:cNvSpPr/>
          <p:nvPr/>
        </p:nvSpPr>
        <p:spPr>
          <a:xfrm>
            <a:off x="548640" y="3200400"/>
            <a:ext cx="11064240" cy="822960"/>
          </a:xfrm>
          <a:prstGeom prst="rect">
            <a:avLst/>
          </a:prstGeom>
          <a:noFill/>
          <a:ln/>
        </p:spPr>
        <p:txBody>
          <a:bodyPr wrap="square" rtlCol="0" anchor="ctr"/>
          <a:lstStyle/>
          <a:p>
            <a:pPr indent="0" marL="0">
              <a:lnSpc>
                <a:spcPts val="2100"/>
              </a:lnSpc>
              <a:buNone/>
            </a:pPr>
            <a:r>
              <a:rPr lang="en-US" sz="1550" dirty="0">
                <a:solidFill>
                  <a:srgbClr val="22272E"/>
                </a:solidFill>
                <a:latin typeface="Calibri" pitchFamily="34" charset="0"/>
                <a:ea typeface="Calibri" pitchFamily="34" charset="-122"/>
                <a:cs typeface="Calibri" pitchFamily="34" charset="-120"/>
              </a:rPr>
              <a:t>Implicación: la misma tendencia a la concentración de mercado (Sesión 2), atenuada —sin eliminarse— por la heterogeneidad de calidad predictiva entre proveedores y los costos de cambio de modelo.</a:t>
            </a:r>
            <a:endParaRPr lang="en-US" sz="1550" dirty="0"/>
          </a:p>
        </p:txBody>
      </p:sp>
      <p:sp>
        <p:nvSpPr>
          <p:cNvPr id="7" name="Shape 5"/>
          <p:cNvSpPr/>
          <p:nvPr/>
        </p:nvSpPr>
        <p:spPr>
          <a:xfrm>
            <a:off x="548640" y="4206240"/>
            <a:ext cx="11064240" cy="1463040"/>
          </a:xfrm>
          <a:prstGeom prst="rect">
            <a:avLst/>
          </a:prstGeom>
          <a:solidFill>
            <a:srgbClr val="FBEAEA"/>
          </a:solidFill>
          <a:ln/>
        </p:spPr>
      </p:sp>
      <p:sp>
        <p:nvSpPr>
          <p:cNvPr id="8" name="Text 6"/>
          <p:cNvSpPr/>
          <p:nvPr/>
        </p:nvSpPr>
        <p:spPr>
          <a:xfrm>
            <a:off x="868680" y="4206240"/>
            <a:ext cx="10515600" cy="1463040"/>
          </a:xfrm>
          <a:prstGeom prst="rect">
            <a:avLst/>
          </a:prstGeom>
          <a:noFill/>
          <a:ln/>
        </p:spPr>
        <p:txBody>
          <a:bodyPr wrap="square" rtlCol="0" anchor="ctr"/>
          <a:lstStyle/>
          <a:p>
            <a:pPr indent="0" marL="0">
              <a:buNone/>
            </a:pPr>
            <a:r>
              <a:rPr lang="en-US" sz="1350" i="1" dirty="0">
                <a:solidFill>
                  <a:srgbClr val="8A2432"/>
                </a:solidFill>
                <a:latin typeface="Calibri" pitchFamily="34" charset="0"/>
                <a:ea typeface="Calibri" pitchFamily="34" charset="-122"/>
                <a:cs typeface="Calibri" pitchFamily="34" charset="-120"/>
              </a:rPr>
              <a:t>Dato (Lectura complementaria [4]): el gasto de capital en infraestructura de IA de un solo proveedor (Amazon, ~131,800 millones de dólares en 2025) ilustra la magnitud de F_IA — y por qué el número de competidores capaces de entrenar modelos de frontera es, y probablemente seguirá siendo, reducido.</a:t>
            </a:r>
            <a:endParaRPr lang="en-US" sz="1350" dirty="0"/>
          </a:p>
        </p:txBody>
      </p:sp>
      <p:sp>
        <p:nvSpPr>
          <p:cNvPr id="9" name="Text 7"/>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5 · 3.3c</a:t>
            </a:r>
            <a:endParaRPr lang="en-US" sz="1000" dirty="0"/>
          </a:p>
        </p:txBody>
      </p:sp>
      <p:sp>
        <p:nvSpPr>
          <p:cNvPr id="10" name="Text 8"/>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A48"/>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C3A5E"/>
          </a:solidFill>
          <a:ln/>
        </p:spPr>
      </p:sp>
      <p:sp>
        <p:nvSpPr>
          <p:cNvPr id="3" name="Text 1"/>
          <p:cNvSpPr/>
          <p:nvPr/>
        </p:nvSpPr>
        <p:spPr>
          <a:xfrm>
            <a:off x="0" y="0"/>
            <a:ext cx="4206240" cy="6858000"/>
          </a:xfrm>
          <a:prstGeom prst="rect">
            <a:avLst/>
          </a:prstGeom>
          <a:noFill/>
          <a:ln/>
        </p:spPr>
        <p:txBody>
          <a:bodyPr wrap="square" rtlCol="0" anchor="ctr"/>
          <a:lstStyle/>
          <a:p>
            <a:pPr algn="ctr" indent="0" marL="0">
              <a:buNone/>
            </a:pPr>
            <a:r>
              <a:rPr lang="en-US" sz="8200" b="1" dirty="0">
                <a:solidFill>
                  <a:srgbClr val="C99735"/>
                </a:solidFill>
                <a:latin typeface="Cambria" pitchFamily="34" charset="0"/>
                <a:ea typeface="Cambria" pitchFamily="34" charset="-122"/>
                <a:cs typeface="Cambria" pitchFamily="34" charset="-120"/>
              </a:rPr>
              <a:t>3.4</a:t>
            </a:r>
            <a:endParaRPr lang="en-US" sz="8200" dirty="0"/>
          </a:p>
        </p:txBody>
      </p:sp>
      <p:sp>
        <p:nvSpPr>
          <p:cNvPr id="4" name="Text 2"/>
          <p:cNvSpPr/>
          <p:nvPr/>
        </p:nvSpPr>
        <p:spPr>
          <a:xfrm>
            <a:off x="4663440" y="2331720"/>
            <a:ext cx="6949440" cy="14630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Política pública y regulación</a:t>
            </a:r>
            <a:endParaRPr lang="en-US" sz="3200" dirty="0"/>
          </a:p>
        </p:txBody>
      </p:sp>
      <p:sp>
        <p:nvSpPr>
          <p:cNvPr id="5" name="Text 3"/>
          <p:cNvSpPr/>
          <p:nvPr/>
        </p:nvSpPr>
        <p:spPr>
          <a:xfrm>
            <a:off x="4663440" y="3703320"/>
            <a:ext cx="6949440" cy="914400"/>
          </a:xfrm>
          <a:prstGeom prst="rect">
            <a:avLst/>
          </a:prstGeom>
          <a:noFill/>
          <a:ln/>
        </p:spPr>
        <p:txBody>
          <a:bodyPr wrap="square" rtlCol="0" anchor="ctr"/>
          <a:lstStyle/>
          <a:p>
            <a:pPr indent="0" marL="0">
              <a:buNone/>
            </a:pPr>
            <a:r>
              <a:rPr lang="en-US" sz="1600" i="1" dirty="0">
                <a:solidFill>
                  <a:srgbClr val="C7D3E2"/>
                </a:solidFill>
                <a:latin typeface="Calibri" pitchFamily="34" charset="0"/>
                <a:ea typeface="Calibri" pitchFamily="34" charset="-122"/>
                <a:cs typeface="Calibri" pitchFamily="34" charset="-120"/>
              </a:rPr>
              <a:t>Tres corrientes de respuesta ante mercados digitales concentrados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94360"/>
          </a:xfrm>
          <a:prstGeom prst="rect">
            <a:avLst/>
          </a:prstGeom>
          <a:noFill/>
          <a:ln/>
        </p:spPr>
        <p:txBody>
          <a:bodyPr wrap="square" rtlCol="0" anchor="ctr"/>
          <a:lstStyle/>
          <a:p>
            <a:pPr indent="0" marL="0">
              <a:buNone/>
            </a:pPr>
            <a:r>
              <a:rPr lang="en-US" sz="2400" b="1" dirty="0">
                <a:solidFill>
                  <a:srgbClr val="122A48"/>
                </a:solidFill>
                <a:latin typeface="Cambria" pitchFamily="34" charset="0"/>
                <a:ea typeface="Cambria" pitchFamily="34" charset="-122"/>
                <a:cs typeface="Cambria" pitchFamily="34" charset="-120"/>
              </a:rPr>
              <a:t>Tres corrientes de respuesta regulatoria</a:t>
            </a:r>
            <a:endParaRPr lang="en-US" sz="2400" dirty="0"/>
          </a:p>
        </p:txBody>
      </p:sp>
      <p:sp>
        <p:nvSpPr>
          <p:cNvPr id="3" name="Shape 1"/>
          <p:cNvSpPr/>
          <p:nvPr/>
        </p:nvSpPr>
        <p:spPr>
          <a:xfrm>
            <a:off x="548640" y="1143000"/>
            <a:ext cx="11064240" cy="1417320"/>
          </a:xfrm>
          <a:prstGeom prst="rect">
            <a:avLst/>
          </a:prstGeom>
          <a:solidFill>
            <a:srgbClr val="E9F1FB"/>
          </a:solidFill>
          <a:ln/>
        </p:spPr>
      </p:sp>
      <p:sp>
        <p:nvSpPr>
          <p:cNvPr id="4" name="Shape 2"/>
          <p:cNvSpPr/>
          <p:nvPr/>
        </p:nvSpPr>
        <p:spPr>
          <a:xfrm>
            <a:off x="777240" y="1600200"/>
            <a:ext cx="502920" cy="502920"/>
          </a:xfrm>
          <a:prstGeom prst="ellipse">
            <a:avLst/>
          </a:prstGeom>
          <a:solidFill>
            <a:srgbClr val="C99735"/>
          </a:solidFill>
          <a:ln/>
        </p:spPr>
      </p:sp>
      <p:sp>
        <p:nvSpPr>
          <p:cNvPr id="5" name="Text 3"/>
          <p:cNvSpPr/>
          <p:nvPr/>
        </p:nvSpPr>
        <p:spPr>
          <a:xfrm>
            <a:off x="777240" y="1600200"/>
            <a:ext cx="502920" cy="502920"/>
          </a:xfrm>
          <a:prstGeom prst="rect">
            <a:avLst/>
          </a:prstGeom>
          <a:noFill/>
          <a:ln/>
        </p:spPr>
        <p:txBody>
          <a:bodyPr wrap="square" rtlCol="0" anchor="ctr"/>
          <a:lstStyle/>
          <a:p>
            <a:pPr algn="ctr" indent="0" marL="0">
              <a:buNone/>
            </a:pPr>
            <a:r>
              <a:rPr lang="en-US" sz="2000" b="1" dirty="0">
                <a:solidFill>
                  <a:srgbClr val="122A48"/>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508760" y="1280160"/>
            <a:ext cx="3566160" cy="1143000"/>
          </a:xfrm>
          <a:prstGeom prst="rect">
            <a:avLst/>
          </a:prstGeom>
          <a:noFill/>
          <a:ln/>
        </p:spPr>
        <p:txBody>
          <a:bodyPr wrap="square" rtlCol="0" anchor="ctr"/>
          <a:lstStyle/>
          <a:p>
            <a:pPr indent="0" marL="0">
              <a:buNone/>
            </a:pPr>
            <a:r>
              <a:rPr lang="en-US" sz="1450" b="1" dirty="0">
                <a:solidFill>
                  <a:srgbClr val="122A48"/>
                </a:solidFill>
                <a:latin typeface="Cambria" pitchFamily="34" charset="0"/>
                <a:ea typeface="Cambria" pitchFamily="34" charset="-122"/>
                <a:cs typeface="Cambria" pitchFamily="34" charset="-120"/>
              </a:rPr>
              <a:t>Regulación ex ante de gatekeepers</a:t>
            </a:r>
            <a:endParaRPr lang="en-US" sz="1450" dirty="0"/>
          </a:p>
        </p:txBody>
      </p:sp>
      <p:sp>
        <p:nvSpPr>
          <p:cNvPr id="7" name="Text 5"/>
          <p:cNvSpPr/>
          <p:nvPr/>
        </p:nvSpPr>
        <p:spPr>
          <a:xfrm>
            <a:off x="5212080" y="1280160"/>
            <a:ext cx="6217920" cy="1143000"/>
          </a:xfrm>
          <a:prstGeom prst="rect">
            <a:avLst/>
          </a:prstGeom>
          <a:noFill/>
          <a:ln/>
        </p:spPr>
        <p:txBody>
          <a:bodyPr wrap="square" rtlCol="0" anchor="ctr"/>
          <a:lstStyle/>
          <a:p>
            <a:pPr indent="0" marL="0">
              <a:buNone/>
            </a:pPr>
            <a:r>
              <a:rPr lang="en-US" sz="1250" dirty="0">
                <a:solidFill>
                  <a:srgbClr val="22272E"/>
                </a:solidFill>
                <a:latin typeface="Calibri" pitchFamily="34" charset="0"/>
                <a:ea typeface="Calibri" pitchFamily="34" charset="-122"/>
                <a:cs typeface="Calibri" pitchFamily="34" charset="-120"/>
              </a:rPr>
              <a:t>Digital Markets Act (UE): obligaciones estructurales según umbrales cuantitativos, sin probar abuso caso por caso.</a:t>
            </a:r>
            <a:endParaRPr lang="en-US" sz="1250" dirty="0"/>
          </a:p>
        </p:txBody>
      </p:sp>
      <p:sp>
        <p:nvSpPr>
          <p:cNvPr id="8" name="Shape 6"/>
          <p:cNvSpPr/>
          <p:nvPr/>
        </p:nvSpPr>
        <p:spPr>
          <a:xfrm>
            <a:off x="548640" y="2651760"/>
            <a:ext cx="11064240" cy="1417320"/>
          </a:xfrm>
          <a:prstGeom prst="rect">
            <a:avLst/>
          </a:prstGeom>
          <a:solidFill>
            <a:srgbClr val="FAF3E2"/>
          </a:solidFill>
          <a:ln/>
        </p:spPr>
      </p:sp>
      <p:sp>
        <p:nvSpPr>
          <p:cNvPr id="9" name="Shape 7"/>
          <p:cNvSpPr/>
          <p:nvPr/>
        </p:nvSpPr>
        <p:spPr>
          <a:xfrm>
            <a:off x="777240" y="3108960"/>
            <a:ext cx="502920" cy="502920"/>
          </a:xfrm>
          <a:prstGeom prst="ellipse">
            <a:avLst/>
          </a:prstGeom>
          <a:solidFill>
            <a:srgbClr val="C99735"/>
          </a:solidFill>
          <a:ln/>
        </p:spPr>
      </p:sp>
      <p:sp>
        <p:nvSpPr>
          <p:cNvPr id="10" name="Text 8"/>
          <p:cNvSpPr/>
          <p:nvPr/>
        </p:nvSpPr>
        <p:spPr>
          <a:xfrm>
            <a:off x="777240" y="3108960"/>
            <a:ext cx="502920" cy="502920"/>
          </a:xfrm>
          <a:prstGeom prst="rect">
            <a:avLst/>
          </a:prstGeom>
          <a:noFill/>
          <a:ln/>
        </p:spPr>
        <p:txBody>
          <a:bodyPr wrap="square" rtlCol="0" anchor="ctr"/>
          <a:lstStyle/>
          <a:p>
            <a:pPr algn="ctr" indent="0" marL="0">
              <a:buNone/>
            </a:pPr>
            <a:r>
              <a:rPr lang="en-US" sz="2000" b="1" dirty="0">
                <a:solidFill>
                  <a:srgbClr val="122A48"/>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508760" y="2788920"/>
            <a:ext cx="3566160" cy="1143000"/>
          </a:xfrm>
          <a:prstGeom prst="rect">
            <a:avLst/>
          </a:prstGeom>
          <a:noFill/>
          <a:ln/>
        </p:spPr>
        <p:txBody>
          <a:bodyPr wrap="square" rtlCol="0" anchor="ctr"/>
          <a:lstStyle/>
          <a:p>
            <a:pPr indent="0" marL="0">
              <a:buNone/>
            </a:pPr>
            <a:r>
              <a:rPr lang="en-US" sz="1450" b="1" dirty="0">
                <a:solidFill>
                  <a:srgbClr val="122A48"/>
                </a:solidFill>
                <a:latin typeface="Cambria" pitchFamily="34" charset="0"/>
                <a:ea typeface="Cambria" pitchFamily="34" charset="-122"/>
                <a:cs typeface="Cambria" pitchFamily="34" charset="-120"/>
              </a:rPr>
              <a:t>Defensa de la competencia ex post</a:t>
            </a:r>
            <a:endParaRPr lang="en-US" sz="1450" dirty="0"/>
          </a:p>
        </p:txBody>
      </p:sp>
      <p:sp>
        <p:nvSpPr>
          <p:cNvPr id="12" name="Text 10"/>
          <p:cNvSpPr/>
          <p:nvPr/>
        </p:nvSpPr>
        <p:spPr>
          <a:xfrm>
            <a:off x="5212080" y="2788920"/>
            <a:ext cx="6217920" cy="1143000"/>
          </a:xfrm>
          <a:prstGeom prst="rect">
            <a:avLst/>
          </a:prstGeom>
          <a:noFill/>
          <a:ln/>
        </p:spPr>
        <p:txBody>
          <a:bodyPr wrap="square" rtlCol="0" anchor="ctr"/>
          <a:lstStyle/>
          <a:p>
            <a:pPr indent="0" marL="0">
              <a:buNone/>
            </a:pPr>
            <a:r>
              <a:rPr lang="en-US" sz="1250" dirty="0">
                <a:solidFill>
                  <a:srgbClr val="22272E"/>
                </a:solidFill>
                <a:latin typeface="Calibri" pitchFamily="34" charset="0"/>
                <a:ea typeface="Calibri" pitchFamily="34" charset="-122"/>
                <a:cs typeface="Calibri" pitchFamily="34" charset="-120"/>
              </a:rPr>
              <a:t>Informes Furman y Crémer et al.: mayor escrutinio a “killer acquisitions”, incorporando la dinámica de tipping.</a:t>
            </a:r>
            <a:endParaRPr lang="en-US" sz="1250" dirty="0"/>
          </a:p>
        </p:txBody>
      </p:sp>
      <p:sp>
        <p:nvSpPr>
          <p:cNvPr id="13" name="Shape 11"/>
          <p:cNvSpPr/>
          <p:nvPr/>
        </p:nvSpPr>
        <p:spPr>
          <a:xfrm>
            <a:off x="548640" y="4160520"/>
            <a:ext cx="11064240" cy="1417320"/>
          </a:xfrm>
          <a:prstGeom prst="rect">
            <a:avLst/>
          </a:prstGeom>
          <a:solidFill>
            <a:srgbClr val="E9F6EF"/>
          </a:solidFill>
          <a:ln/>
        </p:spPr>
      </p:sp>
      <p:sp>
        <p:nvSpPr>
          <p:cNvPr id="14" name="Shape 12"/>
          <p:cNvSpPr/>
          <p:nvPr/>
        </p:nvSpPr>
        <p:spPr>
          <a:xfrm>
            <a:off x="777240" y="4617720"/>
            <a:ext cx="502920" cy="502920"/>
          </a:xfrm>
          <a:prstGeom prst="ellipse">
            <a:avLst/>
          </a:prstGeom>
          <a:solidFill>
            <a:srgbClr val="C99735"/>
          </a:solidFill>
          <a:ln/>
        </p:spPr>
      </p:sp>
      <p:sp>
        <p:nvSpPr>
          <p:cNvPr id="15" name="Text 13"/>
          <p:cNvSpPr/>
          <p:nvPr/>
        </p:nvSpPr>
        <p:spPr>
          <a:xfrm>
            <a:off x="777240" y="4617720"/>
            <a:ext cx="502920" cy="502920"/>
          </a:xfrm>
          <a:prstGeom prst="rect">
            <a:avLst/>
          </a:prstGeom>
          <a:noFill/>
          <a:ln/>
        </p:spPr>
        <p:txBody>
          <a:bodyPr wrap="square" rtlCol="0" anchor="ctr"/>
          <a:lstStyle/>
          <a:p>
            <a:pPr algn="ctr" indent="0" marL="0">
              <a:buNone/>
            </a:pPr>
            <a:r>
              <a:rPr lang="en-US" sz="2000" b="1" dirty="0">
                <a:solidFill>
                  <a:srgbClr val="122A48"/>
                </a:solidFill>
                <a:latin typeface="Cambria" pitchFamily="34" charset="0"/>
                <a:ea typeface="Cambria" pitchFamily="34" charset="-122"/>
                <a:cs typeface="Cambria" pitchFamily="34" charset="-120"/>
              </a:rPr>
              <a:t>3</a:t>
            </a:r>
            <a:endParaRPr lang="en-US" sz="2000" dirty="0"/>
          </a:p>
        </p:txBody>
      </p:sp>
      <p:sp>
        <p:nvSpPr>
          <p:cNvPr id="16" name="Text 14"/>
          <p:cNvSpPr/>
          <p:nvPr/>
        </p:nvSpPr>
        <p:spPr>
          <a:xfrm>
            <a:off x="1508760" y="4297680"/>
            <a:ext cx="3566160" cy="1143000"/>
          </a:xfrm>
          <a:prstGeom prst="rect">
            <a:avLst/>
          </a:prstGeom>
          <a:noFill/>
          <a:ln/>
        </p:spPr>
        <p:txBody>
          <a:bodyPr wrap="square" rtlCol="0" anchor="ctr"/>
          <a:lstStyle/>
          <a:p>
            <a:pPr indent="0" marL="0">
              <a:buNone/>
            </a:pPr>
            <a:r>
              <a:rPr lang="en-US" sz="1450" b="1" dirty="0">
                <a:solidFill>
                  <a:srgbClr val="122A48"/>
                </a:solidFill>
                <a:latin typeface="Cambria" pitchFamily="34" charset="0"/>
                <a:ea typeface="Cambria" pitchFamily="34" charset="-122"/>
                <a:cs typeface="Cambria" pitchFamily="34" charset="-120"/>
              </a:rPr>
              <a:t>Portabilidad e interoperabilidad de datos</a:t>
            </a:r>
            <a:endParaRPr lang="en-US" sz="1450" dirty="0"/>
          </a:p>
        </p:txBody>
      </p:sp>
      <p:sp>
        <p:nvSpPr>
          <p:cNvPr id="17" name="Text 15"/>
          <p:cNvSpPr/>
          <p:nvPr/>
        </p:nvSpPr>
        <p:spPr>
          <a:xfrm>
            <a:off x="5212080" y="4297680"/>
            <a:ext cx="6217920" cy="1143000"/>
          </a:xfrm>
          <a:prstGeom prst="rect">
            <a:avLst/>
          </a:prstGeom>
          <a:noFill/>
          <a:ln/>
        </p:spPr>
        <p:txBody>
          <a:bodyPr wrap="square" rtlCol="0" anchor="ctr"/>
          <a:lstStyle/>
          <a:p>
            <a:pPr indent="0" marL="0">
              <a:buNone/>
            </a:pPr>
            <a:r>
              <a:rPr lang="en-US" sz="1250" dirty="0">
                <a:solidFill>
                  <a:srgbClr val="22272E"/>
                </a:solidFill>
                <a:latin typeface="Calibri" pitchFamily="34" charset="0"/>
                <a:ea typeface="Calibri" pitchFamily="34" charset="-122"/>
                <a:cs typeface="Calibri" pitchFamily="34" charset="-120"/>
              </a:rPr>
              <a:t>OCDE y legislación mexicana: reduce el costo de cambio SC (fórmula de lock-in, Sesión 2) sin fragmentar la propiedad.</a:t>
            </a:r>
            <a:endParaRPr lang="en-US" sz="1250" dirty="0"/>
          </a:p>
        </p:txBody>
      </p:sp>
      <p:sp>
        <p:nvSpPr>
          <p:cNvPr id="18" name="Text 16"/>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6 · 3.4</a:t>
            </a:r>
            <a:endParaRPr lang="en-US" sz="1000" dirty="0"/>
          </a:p>
        </p:txBody>
      </p:sp>
      <p:sp>
        <p:nvSpPr>
          <p:cNvPr id="19" name="Text 17"/>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A48"/>
        </a:solidFill>
      </p:bgPr>
    </p:bg>
    <p:spTree>
      <p:nvGrpSpPr>
        <p:cNvPr id="1" name=""/>
        <p:cNvGrpSpPr/>
        <p:nvPr/>
      </p:nvGrpSpPr>
      <p:grpSpPr>
        <a:xfrm>
          <a:off x="0" y="0"/>
          <a:ext cx="0" cy="0"/>
          <a:chOff x="0" y="0"/>
          <a:chExt cx="0" cy="0"/>
        </a:xfrm>
      </p:grpSpPr>
      <p:sp>
        <p:nvSpPr>
          <p:cNvPr id="2" name="Text 0"/>
          <p:cNvSpPr/>
          <p:nvPr/>
        </p:nvSpPr>
        <p:spPr>
          <a:xfrm>
            <a:off x="548640" y="502920"/>
            <a:ext cx="100584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Síntesis normativa</a:t>
            </a:r>
            <a:endParaRPr lang="en-US" sz="2800" dirty="0"/>
          </a:p>
        </p:txBody>
      </p:sp>
      <p:sp>
        <p:nvSpPr>
          <p:cNvPr id="3" name="Shape 1"/>
          <p:cNvSpPr/>
          <p:nvPr/>
        </p:nvSpPr>
        <p:spPr>
          <a:xfrm>
            <a:off x="640080" y="1508760"/>
            <a:ext cx="10881360" cy="1737360"/>
          </a:xfrm>
          <a:prstGeom prst="rect">
            <a:avLst/>
          </a:prstGeom>
          <a:solidFill>
            <a:srgbClr val="1C3A5E"/>
          </a:solidFill>
          <a:ln/>
        </p:spPr>
      </p:sp>
      <p:sp>
        <p:nvSpPr>
          <p:cNvPr id="4" name="Text 2"/>
          <p:cNvSpPr/>
          <p:nvPr/>
        </p:nvSpPr>
        <p:spPr>
          <a:xfrm>
            <a:off x="914400" y="1645920"/>
            <a:ext cx="10332720" cy="1463040"/>
          </a:xfrm>
          <a:prstGeom prst="rect">
            <a:avLst/>
          </a:prstGeom>
          <a:noFill/>
          <a:ln/>
        </p:spPr>
        <p:txBody>
          <a:bodyPr wrap="square" rtlCol="0" anchor="ctr"/>
          <a:lstStyle/>
          <a:p>
            <a:pPr indent="0" marL="0">
              <a:lnSpc>
                <a:spcPts val="2200"/>
              </a:lnSpc>
              <a:buNone/>
            </a:pPr>
            <a:r>
              <a:rPr lang="en-US" sz="1600" dirty="0">
                <a:solidFill>
                  <a:srgbClr val="E6EBF2"/>
                </a:solidFill>
                <a:latin typeface="Calibri" pitchFamily="34" charset="0"/>
                <a:ea typeface="Calibri" pitchFamily="34" charset="-122"/>
                <a:cs typeface="Calibri" pitchFamily="34" charset="-120"/>
              </a:rPr>
              <a:t>El objetivo no es desmantelar las economías de escala y de red que generan valor social (menor AC, mayor v(nᵉ)), sino atenuar sus efectos anticompetitivos derivados, preservando la disputabilidad dinámica del mercado.</a:t>
            </a:r>
            <a:endParaRPr lang="en-US" sz="1600" dirty="0"/>
          </a:p>
        </p:txBody>
      </p:sp>
      <p:sp>
        <p:nvSpPr>
          <p:cNvPr id="5" name="Shape 3"/>
          <p:cNvSpPr/>
          <p:nvPr/>
        </p:nvSpPr>
        <p:spPr>
          <a:xfrm>
            <a:off x="640080" y="3520440"/>
            <a:ext cx="10881360" cy="2468880"/>
          </a:xfrm>
          <a:prstGeom prst="rect">
            <a:avLst/>
          </a:prstGeom>
          <a:solidFill>
            <a:srgbClr val="1A3355"/>
          </a:solidFill>
          <a:ln w="12700">
            <a:solidFill>
              <a:srgbClr val="C99735"/>
            </a:solidFill>
            <a:prstDash val="solid"/>
          </a:ln>
        </p:spPr>
      </p:sp>
      <p:sp>
        <p:nvSpPr>
          <p:cNvPr id="6" name="Text 4"/>
          <p:cNvSpPr/>
          <p:nvPr/>
        </p:nvSpPr>
        <p:spPr>
          <a:xfrm>
            <a:off x="914400" y="3657600"/>
            <a:ext cx="10332720" cy="365760"/>
          </a:xfrm>
          <a:prstGeom prst="rect">
            <a:avLst/>
          </a:prstGeom>
          <a:noFill/>
          <a:ln/>
        </p:spPr>
        <p:txBody>
          <a:bodyPr wrap="square" rtlCol="0" anchor="ctr"/>
          <a:lstStyle/>
          <a:p>
            <a:pPr indent="0" marL="0">
              <a:buNone/>
            </a:pPr>
            <a:r>
              <a:rPr lang="en-US" sz="1400" b="1" dirty="0">
                <a:solidFill>
                  <a:srgbClr val="E7C978"/>
                </a:solidFill>
                <a:latin typeface="Calibri" pitchFamily="34" charset="0"/>
                <a:ea typeface="Calibri" pitchFamily="34" charset="-122"/>
                <a:cs typeface="Calibri" pitchFamily="34" charset="-120"/>
              </a:rPr>
              <a:t>Puente con la Sesión 3:</a:t>
            </a:r>
            <a:endParaRPr lang="en-US" sz="1400" dirty="0"/>
          </a:p>
        </p:txBody>
      </p:sp>
      <p:sp>
        <p:nvSpPr>
          <p:cNvPr id="7" name="Text 5"/>
          <p:cNvSpPr/>
          <p:nvPr/>
        </p:nvSpPr>
        <p:spPr>
          <a:xfrm>
            <a:off x="914400" y="4069080"/>
            <a:ext cx="10332720" cy="1828800"/>
          </a:xfrm>
          <a:prstGeom prst="rect">
            <a:avLst/>
          </a:prstGeom>
          <a:noFill/>
          <a:ln/>
        </p:spPr>
        <p:txBody>
          <a:bodyPr wrap="square" rtlCol="0" anchor="ctr"/>
          <a:lstStyle/>
          <a:p>
            <a:pPr indent="0" marL="0">
              <a:lnSpc>
                <a:spcPts val="1900"/>
              </a:lnSpc>
              <a:buNone/>
            </a:pPr>
            <a:r>
              <a:rPr lang="en-US" sz="1350" i="1" dirty="0">
                <a:solidFill>
                  <a:srgbClr val="DCE4EF"/>
                </a:solidFill>
                <a:latin typeface="Calibri" pitchFamily="34" charset="0"/>
                <a:ea typeface="Calibri" pitchFamily="34" charset="-122"/>
                <a:cs typeface="Calibri" pitchFamily="34" charset="-120"/>
              </a:rPr>
              <a:t>Una plataforma puede excluir a un entrante eficiente únicamente por su ventaja de costos en datos, sin ninguna práctica “depredatoria” tradicional. Probar “abuso” caso por caso (ex post) es difícil cuando el mecanismo es una ventaja de costos legítima — el argumento a favor de la regulación estructural ex ante.</a:t>
            </a:r>
            <a:endParaRPr lang="en-US" sz="1350" dirty="0"/>
          </a:p>
          <a:p>
            <a:pPr indent="0" marL="0">
              <a:lnSpc>
                <a:spcPts val="1900"/>
              </a:lnSpc>
              <a:buNone/>
            </a:pPr>
            <a:endParaRPr lang="en-US" sz="1350" dirty="0"/>
          </a:p>
          <a:p>
            <a:pPr indent="0" marL="0">
              <a:lnSpc>
                <a:spcPts val="1900"/>
              </a:lnSpc>
              <a:buNone/>
            </a:pPr>
            <a:r>
              <a:rPr lang="en-US" sz="1350" i="1" dirty="0">
                <a:solidFill>
                  <a:srgbClr val="DCE4EF"/>
                </a:solidFill>
                <a:latin typeface="Calibri" pitchFamily="34" charset="0"/>
                <a:ea typeface="Calibri" pitchFamily="34" charset="-122"/>
                <a:cs typeface="Calibri" pitchFamily="34" charset="-120"/>
              </a:rPr>
              <a:t>Caso Microsoft/Internet Explorer (Lectura [1]): el litigio de 1998–2001 tomó años en resolverse, mientras el mercado de navegadores ya se había inclinado (tipping).</a:t>
            </a:r>
            <a:endParaRPr lang="en-US" sz="1350" dirty="0"/>
          </a:p>
        </p:txBody>
      </p:sp>
      <p:sp>
        <p:nvSpPr>
          <p:cNvPr id="8" name="Text 6"/>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6 · 3.4</a:t>
            </a:r>
            <a:endParaRPr lang="en-US" sz="1000" dirty="0"/>
          </a:p>
        </p:txBody>
      </p:sp>
      <p:sp>
        <p:nvSpPr>
          <p:cNvPr id="9" name="Text 7"/>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640080"/>
          </a:xfrm>
          <a:prstGeom prst="rect">
            <a:avLst/>
          </a:prstGeom>
          <a:noFill/>
          <a:ln/>
        </p:spPr>
        <p:txBody>
          <a:bodyPr wrap="square" rtlCol="0" anchor="ctr"/>
          <a:lstStyle/>
          <a:p>
            <a:pPr indent="0" marL="0">
              <a:buNone/>
            </a:pPr>
            <a:r>
              <a:rPr lang="en-US" sz="2700" b="1" dirty="0">
                <a:solidFill>
                  <a:srgbClr val="122A48"/>
                </a:solidFill>
                <a:latin typeface="Cambria" pitchFamily="34" charset="0"/>
                <a:ea typeface="Cambria" pitchFamily="34" charset="-122"/>
                <a:cs typeface="Cambria" pitchFamily="34" charset="-120"/>
              </a:rPr>
              <a:t>Ejercicio integrador</a:t>
            </a:r>
            <a:endParaRPr lang="en-US" sz="2700" dirty="0"/>
          </a:p>
        </p:txBody>
      </p:sp>
      <p:sp>
        <p:nvSpPr>
          <p:cNvPr id="3" name="Text 1"/>
          <p:cNvSpPr/>
          <p:nvPr/>
        </p:nvSpPr>
        <p:spPr>
          <a:xfrm>
            <a:off x="548640" y="896112"/>
            <a:ext cx="10972800" cy="365760"/>
          </a:xfrm>
          <a:prstGeom prst="rect">
            <a:avLst/>
          </a:prstGeom>
          <a:noFill/>
          <a:ln/>
        </p:spPr>
        <p:txBody>
          <a:bodyPr wrap="square" rtlCol="0" anchor="ctr"/>
          <a:lstStyle/>
          <a:p>
            <a:pPr indent="0" marL="0">
              <a:buNone/>
            </a:pPr>
            <a:r>
              <a:rPr lang="en-US" sz="1300" i="1" dirty="0">
                <a:solidFill>
                  <a:srgbClr val="5A626C"/>
                </a:solidFill>
                <a:latin typeface="Calibri" pitchFamily="34" charset="0"/>
                <a:ea typeface="Calibri" pitchFamily="34" charset="-122"/>
                <a:cs typeface="Calibri" pitchFamily="34" charset="-120"/>
              </a:rPr>
              <a:t>Conecta la Sesión 2 (Armstrong), la Sesión 4 (IA) y la política pública</a:t>
            </a:r>
            <a:endParaRPr lang="en-US" sz="1300" dirty="0"/>
          </a:p>
        </p:txBody>
      </p:sp>
      <p:sp>
        <p:nvSpPr>
          <p:cNvPr id="4" name="Shape 2"/>
          <p:cNvSpPr/>
          <p:nvPr/>
        </p:nvSpPr>
        <p:spPr>
          <a:xfrm>
            <a:off x="548640" y="1417320"/>
            <a:ext cx="11064240" cy="2377440"/>
          </a:xfrm>
          <a:prstGeom prst="rect">
            <a:avLst/>
          </a:prstGeom>
          <a:solidFill>
            <a:srgbClr val="E9F1FB"/>
          </a:solidFill>
          <a:ln/>
        </p:spPr>
      </p:sp>
      <p:sp>
        <p:nvSpPr>
          <p:cNvPr id="5" name="Text 3"/>
          <p:cNvSpPr/>
          <p:nvPr/>
        </p:nvSpPr>
        <p:spPr>
          <a:xfrm>
            <a:off x="868680" y="1554480"/>
            <a:ext cx="10424160" cy="2103120"/>
          </a:xfrm>
          <a:prstGeom prst="rect">
            <a:avLst/>
          </a:prstGeom>
          <a:noFill/>
          <a:ln/>
        </p:spPr>
        <p:txBody>
          <a:bodyPr wrap="square" rtlCol="0" anchor="ctr"/>
          <a:lstStyle/>
          <a:p>
            <a:pPr indent="0" marL="0">
              <a:lnSpc>
                <a:spcPts val="2100"/>
              </a:lnSpc>
              <a:buNone/>
            </a:pPr>
            <a:r>
              <a:rPr lang="en-US" sz="1550" dirty="0">
                <a:solidFill>
                  <a:srgbClr val="122A48"/>
                </a:solidFill>
                <a:latin typeface="Calibri" pitchFamily="34" charset="0"/>
                <a:ea typeface="Calibri" pitchFamily="34" charset="-122"/>
                <a:cs typeface="Calibri" pitchFamily="34" charset="-120"/>
              </a:rPr>
              <a:t>Retome el modelo de Armstrong (Sesión 2) e incorpore un costo marginal de predicción c_IA decreciente que mejora el emparejamiento entre lados B y S. (i) Derive el efecto de c_IA↓ sobre p_B, p_S. (ii) Discuta qué instrumento regulatorio —ex ante o ex post— sería más adecuado si esta mejora profundiza el tipping de mercado.</a:t>
            </a:r>
            <a:endParaRPr lang="en-US" sz="1550" dirty="0"/>
          </a:p>
        </p:txBody>
      </p:sp>
      <p:sp>
        <p:nvSpPr>
          <p:cNvPr id="6" name="Text 4"/>
          <p:cNvSpPr/>
          <p:nvPr/>
        </p:nvSpPr>
        <p:spPr>
          <a:xfrm>
            <a:off x="548640" y="3977640"/>
            <a:ext cx="11064240" cy="457200"/>
          </a:xfrm>
          <a:prstGeom prst="rect">
            <a:avLst/>
          </a:prstGeom>
          <a:noFill/>
          <a:ln/>
        </p:spPr>
        <p:txBody>
          <a:bodyPr wrap="square" rtlCol="0" anchor="ctr"/>
          <a:lstStyle/>
          <a:p>
            <a:pPr indent="0" marL="0">
              <a:buNone/>
            </a:pPr>
            <a:r>
              <a:rPr lang="en-US" sz="1500" i="1" dirty="0">
                <a:solidFill>
                  <a:srgbClr val="5A626C"/>
                </a:solidFill>
                <a:latin typeface="Calibri" pitchFamily="34" charset="0"/>
                <a:ea typeface="Calibri" pitchFamily="34" charset="-122"/>
                <a:cs typeface="Calibri" pitchFamily="34" charset="-120"/>
              </a:rPr>
              <a:t>Trabajen en parejas (4 minutos) antes de resolverlo juntos en el pizarrón.</a:t>
            </a:r>
            <a:endParaRPr lang="en-US" sz="1500" dirty="0"/>
          </a:p>
        </p:txBody>
      </p:sp>
      <p:sp>
        <p:nvSpPr>
          <p:cNvPr id="7" name="Text 5"/>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7</a:t>
            </a:r>
            <a:endParaRPr lang="en-US" sz="1000" dirty="0"/>
          </a:p>
        </p:txBody>
      </p:sp>
      <p:sp>
        <p:nvSpPr>
          <p:cNvPr id="8" name="Text 6"/>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94360"/>
          </a:xfrm>
          <a:prstGeom prst="rect">
            <a:avLst/>
          </a:prstGeom>
          <a:noFill/>
          <a:ln/>
        </p:spPr>
        <p:txBody>
          <a:bodyPr wrap="square" rtlCol="0" anchor="ctr"/>
          <a:lstStyle/>
          <a:p>
            <a:pPr indent="0" marL="0">
              <a:buNone/>
            </a:pPr>
            <a:r>
              <a:rPr lang="en-US" sz="2100" b="1" dirty="0">
                <a:solidFill>
                  <a:srgbClr val="122A48"/>
                </a:solidFill>
                <a:latin typeface="Cambria" pitchFamily="34" charset="0"/>
                <a:ea typeface="Cambria" pitchFamily="34" charset="-122"/>
                <a:cs typeface="Cambria" pitchFamily="34" charset="-120"/>
              </a:rPr>
              <a:t>Solución (i): efecto sobre la estructura de precios</a:t>
            </a:r>
            <a:endParaRPr lang="en-US" sz="2100" dirty="0"/>
          </a:p>
        </p:txBody>
      </p:sp>
      <p:sp>
        <p:nvSpPr>
          <p:cNvPr id="3" name="Shape 1"/>
          <p:cNvSpPr/>
          <p:nvPr/>
        </p:nvSpPr>
        <p:spPr>
          <a:xfrm>
            <a:off x="548640" y="1143000"/>
            <a:ext cx="438912" cy="438912"/>
          </a:xfrm>
          <a:prstGeom prst="ellipse">
            <a:avLst/>
          </a:prstGeom>
          <a:solidFill>
            <a:srgbClr val="C99735"/>
          </a:solidFill>
          <a:ln/>
        </p:spPr>
      </p:sp>
      <p:sp>
        <p:nvSpPr>
          <p:cNvPr id="4" name="Text 2"/>
          <p:cNvSpPr/>
          <p:nvPr/>
        </p:nvSpPr>
        <p:spPr>
          <a:xfrm>
            <a:off x="548640" y="1143000"/>
            <a:ext cx="438912" cy="438912"/>
          </a:xfrm>
          <a:prstGeom prst="rect">
            <a:avLst/>
          </a:prstGeom>
          <a:noFill/>
          <a:ln/>
        </p:spPr>
        <p:txBody>
          <a:bodyPr wrap="square" rtlCol="0" anchor="ctr"/>
          <a:lstStyle/>
          <a:p>
            <a:pPr algn="ctr" indent="0" marL="0">
              <a:buNone/>
            </a:pPr>
            <a:r>
              <a:rPr lang="en-US" sz="1400" b="1" dirty="0">
                <a:solidFill>
                  <a:srgbClr val="122A48"/>
                </a:solidFill>
                <a:latin typeface="Cambria" pitchFamily="34" charset="0"/>
                <a:ea typeface="Cambria" pitchFamily="34" charset="-122"/>
                <a:cs typeface="Cambria" pitchFamily="34" charset="-120"/>
              </a:rPr>
              <a:t>1</a:t>
            </a:r>
            <a:endParaRPr lang="en-US" sz="1400" dirty="0"/>
          </a:p>
        </p:txBody>
      </p:sp>
      <p:sp>
        <p:nvSpPr>
          <p:cNvPr id="5" name="Shape 3"/>
          <p:cNvSpPr/>
          <p:nvPr/>
        </p:nvSpPr>
        <p:spPr>
          <a:xfrm>
            <a:off x="1188720" y="1097280"/>
            <a:ext cx="10424160" cy="960120"/>
          </a:xfrm>
          <a:prstGeom prst="rect">
            <a:avLst/>
          </a:prstGeom>
          <a:solidFill>
            <a:srgbClr val="F4F6F8"/>
          </a:solidFill>
          <a:ln/>
        </p:spPr>
      </p:sp>
      <p:sp>
        <p:nvSpPr>
          <p:cNvPr id="6" name="Text 4"/>
          <p:cNvSpPr/>
          <p:nvPr/>
        </p:nvSpPr>
        <p:spPr>
          <a:xfrm>
            <a:off x="1417320" y="1097280"/>
            <a:ext cx="9966960" cy="960120"/>
          </a:xfrm>
          <a:prstGeom prst="rect">
            <a:avLst/>
          </a:prstGeom>
          <a:noFill/>
          <a:ln/>
        </p:spPr>
        <p:txBody>
          <a:bodyPr wrap="square" rtlCol="0" anchor="ctr"/>
          <a:lstStyle/>
          <a:p>
            <a:pPr indent="0" marL="0">
              <a:buNone/>
            </a:pPr>
            <a:r>
              <a:rPr lang="en-US" sz="1450" dirty="0">
                <a:solidFill>
                  <a:srgbClr val="22272E"/>
                </a:solidFill>
                <a:latin typeface="Calibri" pitchFamily="34" charset="0"/>
                <a:ea typeface="Calibri" pitchFamily="34" charset="-122"/>
                <a:cs typeface="Calibri" pitchFamily="34" charset="-120"/>
              </a:rPr>
              <a:t>c_IA ↓ mejora el emparejamiento ⟹ ∂u_B/∂n_S y ∂u_S/∂n_B aumentan simultáneamente</a:t>
            </a:r>
            <a:endParaRPr lang="en-US" sz="1450" dirty="0"/>
          </a:p>
        </p:txBody>
      </p:sp>
      <p:sp>
        <p:nvSpPr>
          <p:cNvPr id="7" name="Shape 5"/>
          <p:cNvSpPr/>
          <p:nvPr/>
        </p:nvSpPr>
        <p:spPr>
          <a:xfrm>
            <a:off x="548640" y="2194560"/>
            <a:ext cx="438912" cy="438912"/>
          </a:xfrm>
          <a:prstGeom prst="ellipse">
            <a:avLst/>
          </a:prstGeom>
          <a:solidFill>
            <a:srgbClr val="C99735"/>
          </a:solidFill>
          <a:ln/>
        </p:spPr>
      </p:sp>
      <p:sp>
        <p:nvSpPr>
          <p:cNvPr id="8" name="Text 6"/>
          <p:cNvSpPr/>
          <p:nvPr/>
        </p:nvSpPr>
        <p:spPr>
          <a:xfrm>
            <a:off x="548640" y="2194560"/>
            <a:ext cx="438912" cy="438912"/>
          </a:xfrm>
          <a:prstGeom prst="rect">
            <a:avLst/>
          </a:prstGeom>
          <a:noFill/>
          <a:ln/>
        </p:spPr>
        <p:txBody>
          <a:bodyPr wrap="square" rtlCol="0" anchor="ctr"/>
          <a:lstStyle/>
          <a:p>
            <a:pPr algn="ctr" indent="0" marL="0">
              <a:buNone/>
            </a:pPr>
            <a:r>
              <a:rPr lang="en-US" sz="1400" b="1" dirty="0">
                <a:solidFill>
                  <a:srgbClr val="122A48"/>
                </a:solidFill>
                <a:latin typeface="Cambria" pitchFamily="34" charset="0"/>
                <a:ea typeface="Cambria" pitchFamily="34" charset="-122"/>
                <a:cs typeface="Cambria" pitchFamily="34" charset="-120"/>
              </a:rPr>
              <a:t>2</a:t>
            </a:r>
            <a:endParaRPr lang="en-US" sz="1400" dirty="0"/>
          </a:p>
        </p:txBody>
      </p:sp>
      <p:sp>
        <p:nvSpPr>
          <p:cNvPr id="9" name="Shape 7"/>
          <p:cNvSpPr/>
          <p:nvPr/>
        </p:nvSpPr>
        <p:spPr>
          <a:xfrm>
            <a:off x="1188720" y="2148840"/>
            <a:ext cx="10424160" cy="960120"/>
          </a:xfrm>
          <a:prstGeom prst="rect">
            <a:avLst/>
          </a:prstGeom>
          <a:solidFill>
            <a:srgbClr val="FFFFFF"/>
          </a:solidFill>
          <a:ln/>
        </p:spPr>
      </p:sp>
      <p:sp>
        <p:nvSpPr>
          <p:cNvPr id="10" name="Text 8"/>
          <p:cNvSpPr/>
          <p:nvPr/>
        </p:nvSpPr>
        <p:spPr>
          <a:xfrm>
            <a:off x="1417320" y="2148840"/>
            <a:ext cx="9966960" cy="960120"/>
          </a:xfrm>
          <a:prstGeom prst="rect">
            <a:avLst/>
          </a:prstGeom>
          <a:noFill/>
          <a:ln/>
        </p:spPr>
        <p:txBody>
          <a:bodyPr wrap="square" rtlCol="0" anchor="ctr"/>
          <a:lstStyle/>
          <a:p>
            <a:pPr indent="0" marL="0">
              <a:buNone/>
            </a:pPr>
            <a:r>
              <a:rPr lang="en-US" sz="1450" dirty="0">
                <a:solidFill>
                  <a:srgbClr val="22272E"/>
                </a:solidFill>
                <a:latin typeface="Calibri" pitchFamily="34" charset="0"/>
                <a:ea typeface="Calibri" pitchFamily="34" charset="-122"/>
                <a:cs typeface="Calibri" pitchFamily="34" charset="-120"/>
              </a:rPr>
              <a:t>Efecto seesaw: ambas externalidades cruzadas crecen ⟹ estructura de precios se intensifica</a:t>
            </a:r>
            <a:endParaRPr lang="en-US" sz="1450" dirty="0"/>
          </a:p>
        </p:txBody>
      </p:sp>
      <p:sp>
        <p:nvSpPr>
          <p:cNvPr id="11" name="Shape 9"/>
          <p:cNvSpPr/>
          <p:nvPr/>
        </p:nvSpPr>
        <p:spPr>
          <a:xfrm>
            <a:off x="548640" y="3246120"/>
            <a:ext cx="438912" cy="438912"/>
          </a:xfrm>
          <a:prstGeom prst="ellipse">
            <a:avLst/>
          </a:prstGeom>
          <a:solidFill>
            <a:srgbClr val="C99735"/>
          </a:solidFill>
          <a:ln/>
        </p:spPr>
      </p:sp>
      <p:sp>
        <p:nvSpPr>
          <p:cNvPr id="12" name="Text 10"/>
          <p:cNvSpPr/>
          <p:nvPr/>
        </p:nvSpPr>
        <p:spPr>
          <a:xfrm>
            <a:off x="548640" y="3246120"/>
            <a:ext cx="438912" cy="438912"/>
          </a:xfrm>
          <a:prstGeom prst="rect">
            <a:avLst/>
          </a:prstGeom>
          <a:noFill/>
          <a:ln/>
        </p:spPr>
        <p:txBody>
          <a:bodyPr wrap="square" rtlCol="0" anchor="ctr"/>
          <a:lstStyle/>
          <a:p>
            <a:pPr algn="ctr" indent="0" marL="0">
              <a:buNone/>
            </a:pPr>
            <a:r>
              <a:rPr lang="en-US" sz="1400" b="1" dirty="0">
                <a:solidFill>
                  <a:srgbClr val="122A48"/>
                </a:solidFill>
                <a:latin typeface="Cambria" pitchFamily="34" charset="0"/>
                <a:ea typeface="Cambria" pitchFamily="34" charset="-122"/>
                <a:cs typeface="Cambria" pitchFamily="34" charset="-120"/>
              </a:rPr>
              <a:t>3</a:t>
            </a:r>
            <a:endParaRPr lang="en-US" sz="1400" dirty="0"/>
          </a:p>
        </p:txBody>
      </p:sp>
      <p:sp>
        <p:nvSpPr>
          <p:cNvPr id="13" name="Shape 11"/>
          <p:cNvSpPr/>
          <p:nvPr/>
        </p:nvSpPr>
        <p:spPr>
          <a:xfrm>
            <a:off x="1188720" y="3200400"/>
            <a:ext cx="10424160" cy="960120"/>
          </a:xfrm>
          <a:prstGeom prst="rect">
            <a:avLst/>
          </a:prstGeom>
          <a:solidFill>
            <a:srgbClr val="F4F6F8"/>
          </a:solidFill>
          <a:ln/>
        </p:spPr>
      </p:sp>
      <p:sp>
        <p:nvSpPr>
          <p:cNvPr id="14" name="Text 12"/>
          <p:cNvSpPr/>
          <p:nvPr/>
        </p:nvSpPr>
        <p:spPr>
          <a:xfrm>
            <a:off x="1417320" y="3200400"/>
            <a:ext cx="9966960" cy="960120"/>
          </a:xfrm>
          <a:prstGeom prst="rect">
            <a:avLst/>
          </a:prstGeom>
          <a:noFill/>
          <a:ln/>
        </p:spPr>
        <p:txBody>
          <a:bodyPr wrap="square" rtlCol="0" anchor="ctr"/>
          <a:lstStyle/>
          <a:p>
            <a:pPr indent="0" marL="0">
              <a:buNone/>
            </a:pPr>
            <a:r>
              <a:rPr lang="en-US" sz="1450" dirty="0">
                <a:solidFill>
                  <a:srgbClr val="22272E"/>
                </a:solidFill>
                <a:latin typeface="Calibri" pitchFamily="34" charset="0"/>
                <a:ea typeface="Calibri" pitchFamily="34" charset="-122"/>
                <a:cs typeface="Calibri" pitchFamily="34" charset="-120"/>
              </a:rPr>
              <a:t>Resultado: mayor dispersión entre p_B y p_S, mayor excedente total, y n* efectivo menor</a:t>
            </a:r>
            <a:endParaRPr lang="en-US" sz="1450" dirty="0"/>
          </a:p>
        </p:txBody>
      </p:sp>
      <p:sp>
        <p:nvSpPr>
          <p:cNvPr id="15" name="Text 13"/>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7</a:t>
            </a:r>
            <a:endParaRPr lang="en-US" sz="1000" dirty="0"/>
          </a:p>
        </p:txBody>
      </p:sp>
      <p:sp>
        <p:nvSpPr>
          <p:cNvPr id="16" name="Text 14"/>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94360"/>
          </a:xfrm>
          <a:prstGeom prst="rect">
            <a:avLst/>
          </a:prstGeom>
          <a:noFill/>
          <a:ln/>
        </p:spPr>
        <p:txBody>
          <a:bodyPr wrap="square" rtlCol="0" anchor="ctr"/>
          <a:lstStyle/>
          <a:p>
            <a:pPr indent="0" marL="0">
              <a:buNone/>
            </a:pPr>
            <a:r>
              <a:rPr lang="en-US" sz="2200" b="1" dirty="0">
                <a:solidFill>
                  <a:srgbClr val="122A48"/>
                </a:solidFill>
                <a:latin typeface="Cambria" pitchFamily="34" charset="0"/>
                <a:ea typeface="Cambria" pitchFamily="34" charset="-122"/>
                <a:cs typeface="Cambria" pitchFamily="34" charset="-120"/>
              </a:rPr>
              <a:t>Solución (ii): el instrumento regulatorio</a:t>
            </a:r>
            <a:endParaRPr lang="en-US" sz="2200" dirty="0"/>
          </a:p>
        </p:txBody>
      </p:sp>
      <p:sp>
        <p:nvSpPr>
          <p:cNvPr id="3" name="Shape 1"/>
          <p:cNvSpPr/>
          <p:nvPr/>
        </p:nvSpPr>
        <p:spPr>
          <a:xfrm>
            <a:off x="548640" y="1234440"/>
            <a:ext cx="11064240" cy="1737360"/>
          </a:xfrm>
          <a:prstGeom prst="rect">
            <a:avLst/>
          </a:prstGeom>
          <a:solidFill>
            <a:srgbClr val="122A48"/>
          </a:solidFill>
          <a:ln/>
        </p:spPr>
      </p:sp>
      <p:sp>
        <p:nvSpPr>
          <p:cNvPr id="4" name="Text 2"/>
          <p:cNvSpPr/>
          <p:nvPr/>
        </p:nvSpPr>
        <p:spPr>
          <a:xfrm>
            <a:off x="868680" y="1371600"/>
            <a:ext cx="10515600" cy="1463040"/>
          </a:xfrm>
          <a:prstGeom prst="rect">
            <a:avLst/>
          </a:prstGeom>
          <a:noFill/>
          <a:ln/>
        </p:spPr>
        <p:txBody>
          <a:bodyPr wrap="square" rtlCol="0" anchor="ctr"/>
          <a:lstStyle/>
          <a:p>
            <a:pPr indent="0" marL="0">
              <a:lnSpc>
                <a:spcPts val="2200"/>
              </a:lnSpc>
              <a:buNone/>
            </a:pPr>
            <a:r>
              <a:rPr lang="en-US" sz="1600" b="1" dirty="0">
                <a:solidFill>
                  <a:srgbClr val="E7C978"/>
                </a:solidFill>
                <a:latin typeface="Calibri" pitchFamily="34" charset="0"/>
                <a:ea typeface="Calibri" pitchFamily="34" charset="-122"/>
                <a:cs typeface="Calibri" pitchFamily="34" charset="-120"/>
              </a:rPr>
              <a:t>El tipping profundizado se origina en una ventaja de costos de IA legítima —no en conducta anticompetitiva aislada— ⟹ regulación EX ANTE de gatekeepers, complementada con portabilidad de datos/algoritmos.</a:t>
            </a:r>
            <a:endParaRPr lang="en-US" sz="1600" dirty="0"/>
          </a:p>
        </p:txBody>
      </p:sp>
      <p:sp>
        <p:nvSpPr>
          <p:cNvPr id="5" name="Text 3"/>
          <p:cNvSpPr/>
          <p:nvPr/>
        </p:nvSpPr>
        <p:spPr>
          <a:xfrm>
            <a:off x="548640" y="3200400"/>
            <a:ext cx="11064240" cy="1188720"/>
          </a:xfrm>
          <a:prstGeom prst="rect">
            <a:avLst/>
          </a:prstGeom>
          <a:noFill/>
          <a:ln/>
        </p:spPr>
        <p:txBody>
          <a:bodyPr wrap="square" rtlCol="0" anchor="ctr"/>
          <a:lstStyle/>
          <a:p>
            <a:pPr indent="0" marL="0">
              <a:lnSpc>
                <a:spcPts val="2000"/>
              </a:lnSpc>
              <a:buNone/>
            </a:pPr>
            <a:r>
              <a:rPr lang="en-US" sz="1500" dirty="0">
                <a:solidFill>
                  <a:srgbClr val="22272E"/>
                </a:solidFill>
                <a:latin typeface="Calibri" pitchFamily="34" charset="0"/>
                <a:ea typeface="Calibri" pitchFamily="34" charset="-122"/>
                <a:cs typeface="Calibri" pitchFamily="34" charset="-120"/>
              </a:rPr>
              <a:t>Justificación: el enfoque ex post exige probar abuso caso por caso —difícil cuando el mecanismo excluyente proviene de una ventaja de costos legítima (mismo argumento del ejercicio de la Sesión 3). La portabilidad de datos ataca directamente el término SC del lock-in.</a:t>
            </a:r>
            <a:endParaRPr lang="en-US" sz="1500" dirty="0"/>
          </a:p>
        </p:txBody>
      </p:sp>
      <p:sp>
        <p:nvSpPr>
          <p:cNvPr id="6" name="Shape 4"/>
          <p:cNvSpPr/>
          <p:nvPr/>
        </p:nvSpPr>
        <p:spPr>
          <a:xfrm>
            <a:off x="548640" y="4572000"/>
            <a:ext cx="11064240" cy="1554480"/>
          </a:xfrm>
          <a:prstGeom prst="rect">
            <a:avLst/>
          </a:prstGeom>
          <a:solidFill>
            <a:srgbClr val="FAF3E2"/>
          </a:solidFill>
          <a:ln/>
        </p:spPr>
      </p:sp>
      <p:sp>
        <p:nvSpPr>
          <p:cNvPr id="7" name="Text 5"/>
          <p:cNvSpPr/>
          <p:nvPr/>
        </p:nvSpPr>
        <p:spPr>
          <a:xfrm>
            <a:off x="868680" y="4572000"/>
            <a:ext cx="10515600" cy="1554480"/>
          </a:xfrm>
          <a:prstGeom prst="rect">
            <a:avLst/>
          </a:prstGeom>
          <a:noFill/>
          <a:ln/>
        </p:spPr>
        <p:txBody>
          <a:bodyPr wrap="square" rtlCol="0" anchor="ctr"/>
          <a:lstStyle/>
          <a:p>
            <a:pPr indent="0" marL="0">
              <a:buNone/>
            </a:pPr>
            <a:r>
              <a:rPr lang="en-US" sz="1400" b="1" i="1" dirty="0">
                <a:solidFill>
                  <a:srgbClr val="6B4E12"/>
                </a:solidFill>
                <a:latin typeface="Calibri" pitchFamily="34" charset="0"/>
                <a:ea typeface="Calibri" pitchFamily="34" charset="-122"/>
                <a:cs typeface="Calibri" pitchFamily="34" charset="-120"/>
              </a:rPr>
              <a:t>Matiz para la discusión: la regulación ex ante también puede desincentivar la inversión en mejoras algorítmicas legítimas si las obligaciones se diseñan de forma demasiado amplia — un trade-off sin resolución consensuada en la literatura actual.</a:t>
            </a:r>
            <a:endParaRPr lang="en-US" sz="1400" dirty="0"/>
          </a:p>
        </p:txBody>
      </p:sp>
      <p:sp>
        <p:nvSpPr>
          <p:cNvPr id="8" name="Text 6"/>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7</a:t>
            </a:r>
            <a:endParaRPr lang="en-US" sz="1000" dirty="0"/>
          </a:p>
        </p:txBody>
      </p:sp>
      <p:sp>
        <p:nvSpPr>
          <p:cNvPr id="9" name="Text 7"/>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2A48"/>
        </a:solidFill>
      </p:bgPr>
    </p:bg>
    <p:spTree>
      <p:nvGrpSpPr>
        <p:cNvPr id="1" name=""/>
        <p:cNvGrpSpPr/>
        <p:nvPr/>
      </p:nvGrpSpPr>
      <p:grpSpPr>
        <a:xfrm>
          <a:off x="0" y="0"/>
          <a:ext cx="0" cy="0"/>
          <a:chOff x="0" y="0"/>
          <a:chExt cx="0" cy="0"/>
        </a:xfrm>
      </p:grpSpPr>
      <p:sp>
        <p:nvSpPr>
          <p:cNvPr id="2" name="Text 0"/>
          <p:cNvSpPr/>
          <p:nvPr/>
        </p:nvSpPr>
        <p:spPr>
          <a:xfrm>
            <a:off x="548640" y="457200"/>
            <a:ext cx="11155680" cy="8229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Cierre del curso: cuatro sesiones, un mismo aparato</a:t>
            </a:r>
            <a:endParaRPr lang="en-US" sz="2400" dirty="0"/>
          </a:p>
        </p:txBody>
      </p:sp>
      <p:sp>
        <p:nvSpPr>
          <p:cNvPr id="3" name="Shape 1"/>
          <p:cNvSpPr/>
          <p:nvPr/>
        </p:nvSpPr>
        <p:spPr>
          <a:xfrm>
            <a:off x="640080" y="1417320"/>
            <a:ext cx="502920" cy="502920"/>
          </a:xfrm>
          <a:prstGeom prst="ellipse">
            <a:avLst/>
          </a:prstGeom>
          <a:solidFill>
            <a:srgbClr val="C99735"/>
          </a:solidFill>
          <a:ln/>
        </p:spPr>
      </p:sp>
      <p:sp>
        <p:nvSpPr>
          <p:cNvPr id="4" name="Text 2"/>
          <p:cNvSpPr/>
          <p:nvPr/>
        </p:nvSpPr>
        <p:spPr>
          <a:xfrm>
            <a:off x="640080" y="1417320"/>
            <a:ext cx="502920" cy="502920"/>
          </a:xfrm>
          <a:prstGeom prst="rect">
            <a:avLst/>
          </a:prstGeom>
          <a:noFill/>
          <a:ln/>
        </p:spPr>
        <p:txBody>
          <a:bodyPr wrap="square" rtlCol="0" anchor="ctr"/>
          <a:lstStyle/>
          <a:p>
            <a:pPr algn="ctr" indent="0" marL="0">
              <a:buNone/>
            </a:pPr>
            <a:r>
              <a:rPr lang="en-US" sz="1400" b="1" dirty="0">
                <a:solidFill>
                  <a:srgbClr val="122A48"/>
                </a:solidFill>
                <a:latin typeface="Cambria" pitchFamily="34" charset="0"/>
                <a:ea typeface="Cambria" pitchFamily="34" charset="-122"/>
                <a:cs typeface="Cambria" pitchFamily="34" charset="-120"/>
              </a:rPr>
              <a:t>S1</a:t>
            </a:r>
            <a:endParaRPr lang="en-US" sz="1400" dirty="0"/>
          </a:p>
        </p:txBody>
      </p:sp>
      <p:sp>
        <p:nvSpPr>
          <p:cNvPr id="5" name="Text 3"/>
          <p:cNvSpPr/>
          <p:nvPr/>
        </p:nvSpPr>
        <p:spPr>
          <a:xfrm>
            <a:off x="1371600" y="1371600"/>
            <a:ext cx="9966960" cy="868680"/>
          </a:xfrm>
          <a:prstGeom prst="rect">
            <a:avLst/>
          </a:prstGeom>
          <a:noFill/>
          <a:ln/>
        </p:spPr>
        <p:txBody>
          <a:bodyPr wrap="square" rtlCol="0" anchor="ctr"/>
          <a:lstStyle/>
          <a:p>
            <a:pPr indent="0" marL="0">
              <a:buNone/>
            </a:pPr>
            <a:r>
              <a:rPr lang="en-US" sz="1500" dirty="0">
                <a:solidFill>
                  <a:srgbClr val="E6EBF2"/>
                </a:solidFill>
                <a:latin typeface="Calibri" pitchFamily="34" charset="0"/>
                <a:ea typeface="Calibri" pitchFamily="34" charset="-122"/>
                <a:cs typeface="Calibri" pitchFamily="34" charset="-120"/>
              </a:rPr>
              <a:t>Estructura de costos de un bien digital (F* alto, c* → 0) — el ladrillo formal de todo el curso.</a:t>
            </a:r>
            <a:endParaRPr lang="en-US" sz="1500" dirty="0"/>
          </a:p>
        </p:txBody>
      </p:sp>
      <p:sp>
        <p:nvSpPr>
          <p:cNvPr id="6" name="Shape 4"/>
          <p:cNvSpPr/>
          <p:nvPr/>
        </p:nvSpPr>
        <p:spPr>
          <a:xfrm>
            <a:off x="640080" y="2377440"/>
            <a:ext cx="502920" cy="502920"/>
          </a:xfrm>
          <a:prstGeom prst="ellipse">
            <a:avLst/>
          </a:prstGeom>
          <a:solidFill>
            <a:srgbClr val="C99735"/>
          </a:solidFill>
          <a:ln/>
        </p:spPr>
      </p:sp>
      <p:sp>
        <p:nvSpPr>
          <p:cNvPr id="7" name="Text 5"/>
          <p:cNvSpPr/>
          <p:nvPr/>
        </p:nvSpPr>
        <p:spPr>
          <a:xfrm>
            <a:off x="640080" y="2377440"/>
            <a:ext cx="502920" cy="502920"/>
          </a:xfrm>
          <a:prstGeom prst="rect">
            <a:avLst/>
          </a:prstGeom>
          <a:noFill/>
          <a:ln/>
        </p:spPr>
        <p:txBody>
          <a:bodyPr wrap="square" rtlCol="0" anchor="ctr"/>
          <a:lstStyle/>
          <a:p>
            <a:pPr algn="ctr" indent="0" marL="0">
              <a:buNone/>
            </a:pPr>
            <a:r>
              <a:rPr lang="en-US" sz="1400" b="1" dirty="0">
                <a:solidFill>
                  <a:srgbClr val="122A48"/>
                </a:solidFill>
                <a:latin typeface="Cambria" pitchFamily="34" charset="0"/>
                <a:ea typeface="Cambria" pitchFamily="34" charset="-122"/>
                <a:cs typeface="Cambria" pitchFamily="34" charset="-120"/>
              </a:rPr>
              <a:t>S2</a:t>
            </a:r>
            <a:endParaRPr lang="en-US" sz="1400" dirty="0"/>
          </a:p>
        </p:txBody>
      </p:sp>
      <p:sp>
        <p:nvSpPr>
          <p:cNvPr id="8" name="Text 6"/>
          <p:cNvSpPr/>
          <p:nvPr/>
        </p:nvSpPr>
        <p:spPr>
          <a:xfrm>
            <a:off x="1371600" y="2331720"/>
            <a:ext cx="9966960" cy="868680"/>
          </a:xfrm>
          <a:prstGeom prst="rect">
            <a:avLst/>
          </a:prstGeom>
          <a:noFill/>
          <a:ln/>
        </p:spPr>
        <p:txBody>
          <a:bodyPr wrap="square" rtlCol="0" anchor="ctr"/>
          <a:lstStyle/>
          <a:p>
            <a:pPr indent="0" marL="0">
              <a:buNone/>
            </a:pPr>
            <a:r>
              <a:rPr lang="en-US" sz="1500" dirty="0">
                <a:solidFill>
                  <a:srgbClr val="E6EBF2"/>
                </a:solidFill>
                <a:latin typeface="Calibri" pitchFamily="34" charset="0"/>
                <a:ea typeface="Calibri" pitchFamily="34" charset="-122"/>
                <a:cs typeface="Calibri" pitchFamily="34" charset="-120"/>
              </a:rPr>
              <a:t>Externalidades de red y mercados de dos lados: por qué esos costos decrecientes generan concentración.</a:t>
            </a:r>
            <a:endParaRPr lang="en-US" sz="1500" dirty="0"/>
          </a:p>
        </p:txBody>
      </p:sp>
      <p:sp>
        <p:nvSpPr>
          <p:cNvPr id="9" name="Shape 7"/>
          <p:cNvSpPr/>
          <p:nvPr/>
        </p:nvSpPr>
        <p:spPr>
          <a:xfrm>
            <a:off x="640080" y="3337560"/>
            <a:ext cx="502920" cy="502920"/>
          </a:xfrm>
          <a:prstGeom prst="ellipse">
            <a:avLst/>
          </a:prstGeom>
          <a:solidFill>
            <a:srgbClr val="C99735"/>
          </a:solidFill>
          <a:ln/>
        </p:spPr>
      </p:sp>
      <p:sp>
        <p:nvSpPr>
          <p:cNvPr id="10" name="Text 8"/>
          <p:cNvSpPr/>
          <p:nvPr/>
        </p:nvSpPr>
        <p:spPr>
          <a:xfrm>
            <a:off x="640080" y="3337560"/>
            <a:ext cx="502920" cy="502920"/>
          </a:xfrm>
          <a:prstGeom prst="rect">
            <a:avLst/>
          </a:prstGeom>
          <a:noFill/>
          <a:ln/>
        </p:spPr>
        <p:txBody>
          <a:bodyPr wrap="square" rtlCol="0" anchor="ctr"/>
          <a:lstStyle/>
          <a:p>
            <a:pPr algn="ctr" indent="0" marL="0">
              <a:buNone/>
            </a:pPr>
            <a:r>
              <a:rPr lang="en-US" sz="1400" b="1" dirty="0">
                <a:solidFill>
                  <a:srgbClr val="122A48"/>
                </a:solidFill>
                <a:latin typeface="Cambria" pitchFamily="34" charset="0"/>
                <a:ea typeface="Cambria" pitchFamily="34" charset="-122"/>
                <a:cs typeface="Cambria" pitchFamily="34" charset="-120"/>
              </a:rPr>
              <a:t>S3</a:t>
            </a:r>
            <a:endParaRPr lang="en-US" sz="1400" dirty="0"/>
          </a:p>
        </p:txBody>
      </p:sp>
      <p:sp>
        <p:nvSpPr>
          <p:cNvPr id="11" name="Text 9"/>
          <p:cNvSpPr/>
          <p:nvPr/>
        </p:nvSpPr>
        <p:spPr>
          <a:xfrm>
            <a:off x="1371600" y="3291840"/>
            <a:ext cx="9966960" cy="868680"/>
          </a:xfrm>
          <a:prstGeom prst="rect">
            <a:avLst/>
          </a:prstGeom>
          <a:noFill/>
          <a:ln/>
        </p:spPr>
        <p:txBody>
          <a:bodyPr wrap="square" rtlCol="0" anchor="ctr"/>
          <a:lstStyle/>
          <a:p>
            <a:pPr indent="0" marL="0">
              <a:buNone/>
            </a:pPr>
            <a:r>
              <a:rPr lang="en-US" sz="1500" dirty="0">
                <a:solidFill>
                  <a:srgbClr val="E6EBF2"/>
                </a:solidFill>
                <a:latin typeface="Calibri" pitchFamily="34" charset="0"/>
                <a:ea typeface="Calibri" pitchFamily="34" charset="-122"/>
                <a:cs typeface="Calibri" pitchFamily="34" charset="-120"/>
              </a:rPr>
              <a:t>Integración vertical, economías de alcance y el efecto de reemplazo de Arrow: cómo se expanden las plataformas.</a:t>
            </a:r>
            <a:endParaRPr lang="en-US" sz="1500" dirty="0"/>
          </a:p>
        </p:txBody>
      </p:sp>
      <p:sp>
        <p:nvSpPr>
          <p:cNvPr id="12" name="Shape 10"/>
          <p:cNvSpPr/>
          <p:nvPr/>
        </p:nvSpPr>
        <p:spPr>
          <a:xfrm>
            <a:off x="640080" y="4297680"/>
            <a:ext cx="502920" cy="502920"/>
          </a:xfrm>
          <a:prstGeom prst="ellipse">
            <a:avLst/>
          </a:prstGeom>
          <a:solidFill>
            <a:srgbClr val="C99735"/>
          </a:solidFill>
          <a:ln/>
        </p:spPr>
      </p:sp>
      <p:sp>
        <p:nvSpPr>
          <p:cNvPr id="13" name="Text 11"/>
          <p:cNvSpPr/>
          <p:nvPr/>
        </p:nvSpPr>
        <p:spPr>
          <a:xfrm>
            <a:off x="640080" y="4297680"/>
            <a:ext cx="502920" cy="502920"/>
          </a:xfrm>
          <a:prstGeom prst="rect">
            <a:avLst/>
          </a:prstGeom>
          <a:noFill/>
          <a:ln/>
        </p:spPr>
        <p:txBody>
          <a:bodyPr wrap="square" rtlCol="0" anchor="ctr"/>
          <a:lstStyle/>
          <a:p>
            <a:pPr algn="ctr" indent="0" marL="0">
              <a:buNone/>
            </a:pPr>
            <a:r>
              <a:rPr lang="en-US" sz="1400" b="1" dirty="0">
                <a:solidFill>
                  <a:srgbClr val="122A48"/>
                </a:solidFill>
                <a:latin typeface="Cambria" pitchFamily="34" charset="0"/>
                <a:ea typeface="Cambria" pitchFamily="34" charset="-122"/>
                <a:cs typeface="Cambria" pitchFamily="34" charset="-120"/>
              </a:rPr>
              <a:t>S4</a:t>
            </a:r>
            <a:endParaRPr lang="en-US" sz="1400" dirty="0"/>
          </a:p>
        </p:txBody>
      </p:sp>
      <p:sp>
        <p:nvSpPr>
          <p:cNvPr id="14" name="Text 12"/>
          <p:cNvSpPr/>
          <p:nvPr/>
        </p:nvSpPr>
        <p:spPr>
          <a:xfrm>
            <a:off x="1371600" y="4251960"/>
            <a:ext cx="9966960" cy="868680"/>
          </a:xfrm>
          <a:prstGeom prst="rect">
            <a:avLst/>
          </a:prstGeom>
          <a:noFill/>
          <a:ln/>
        </p:spPr>
        <p:txBody>
          <a:bodyPr wrap="square" rtlCol="0" anchor="ctr"/>
          <a:lstStyle/>
          <a:p>
            <a:pPr indent="0" marL="0">
              <a:buNone/>
            </a:pPr>
            <a:r>
              <a:rPr lang="en-US" sz="1500" dirty="0">
                <a:solidFill>
                  <a:srgbClr val="E6EBF2"/>
                </a:solidFill>
                <a:latin typeface="Calibri" pitchFamily="34" charset="0"/>
                <a:ea typeface="Calibri" pitchFamily="34" charset="-122"/>
                <a:cs typeface="Calibri" pitchFamily="34" charset="-120"/>
              </a:rPr>
              <a:t>La IA extiende esta misma lógica, abaratando la predicción — y plantea con mayor urgencia la pregunta regulatoria.</a:t>
            </a:r>
            <a:endParaRPr lang="en-US" sz="1500" dirty="0"/>
          </a:p>
        </p:txBody>
      </p:sp>
      <p:sp>
        <p:nvSpPr>
          <p:cNvPr id="15" name="Shape 13"/>
          <p:cNvSpPr/>
          <p:nvPr/>
        </p:nvSpPr>
        <p:spPr>
          <a:xfrm>
            <a:off x="548640" y="5349240"/>
            <a:ext cx="11064240" cy="1005840"/>
          </a:xfrm>
          <a:prstGeom prst="rect">
            <a:avLst/>
          </a:prstGeom>
          <a:solidFill>
            <a:srgbClr val="1C3A5E"/>
          </a:solidFill>
          <a:ln/>
        </p:spPr>
      </p:sp>
      <p:sp>
        <p:nvSpPr>
          <p:cNvPr id="16" name="Text 14"/>
          <p:cNvSpPr/>
          <p:nvPr/>
        </p:nvSpPr>
        <p:spPr>
          <a:xfrm>
            <a:off x="822960" y="5349240"/>
            <a:ext cx="10515600" cy="1005840"/>
          </a:xfrm>
          <a:prstGeom prst="rect">
            <a:avLst/>
          </a:prstGeom>
          <a:noFill/>
          <a:ln/>
        </p:spPr>
        <p:txBody>
          <a:bodyPr wrap="square" rtlCol="0" anchor="ctr"/>
          <a:lstStyle/>
          <a:p>
            <a:pPr algn="ctr" indent="0" marL="0">
              <a:buNone/>
            </a:pPr>
            <a:r>
              <a:rPr lang="en-US" sz="1600" b="1" i="1" dirty="0">
                <a:solidFill>
                  <a:srgbClr val="E7C978"/>
                </a:solidFill>
                <a:latin typeface="Cambria" pitchFamily="34" charset="0"/>
                <a:ea typeface="Cambria" pitchFamily="34" charset="-122"/>
                <a:cs typeface="Cambria" pitchFamily="34" charset="-120"/>
              </a:rPr>
              <a:t>“La tecnología cambia, pero las leyes de la economía permanecen.” — Shapiro y Varian (2000)</a:t>
            </a:r>
            <a:endParaRPr lang="en-US" sz="1600" dirty="0"/>
          </a:p>
        </p:txBody>
      </p:sp>
      <p:sp>
        <p:nvSpPr>
          <p:cNvPr id="17" name="Text 15"/>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A626C"/>
                </a:solidFill>
                <a:latin typeface="Calibri" pitchFamily="34" charset="0"/>
                <a:ea typeface="Calibri" pitchFamily="34" charset="-122"/>
                <a:cs typeface="Calibri" pitchFamily="34" charset="-120"/>
              </a:rPr>
              <a:t>Bloque 8</a:t>
            </a:r>
            <a:endParaRPr lang="en-US" sz="1000" dirty="0"/>
          </a:p>
        </p:txBody>
      </p:sp>
      <p:sp>
        <p:nvSpPr>
          <p:cNvPr id="18" name="Text 16"/>
          <p:cNvSpPr/>
          <p:nvPr/>
        </p:nvSpPr>
        <p:spPr>
          <a:xfrm>
            <a:off x="8076895" y="6473952"/>
            <a:ext cx="3657600" cy="274320"/>
          </a:xfrm>
          <a:prstGeom prst="rect">
            <a:avLst/>
          </a:prstGeom>
          <a:noFill/>
          <a:ln/>
        </p:spPr>
        <p:txBody>
          <a:bodyPr wrap="square" rtlCol="0" anchor="ctr"/>
          <a:lstStyle/>
          <a:p>
            <a:pPr algn="r" indent="0" marL="0">
              <a:buNone/>
            </a:pPr>
            <a:r>
              <a:rPr lang="en-US" sz="1000" dirty="0">
                <a:solidFill>
                  <a:srgbClr val="5A626C"/>
                </a:solidFill>
                <a:latin typeface="Calibri" pitchFamily="34" charset="0"/>
                <a:ea typeface="Calibri" pitchFamily="34" charset="-122"/>
                <a:cs typeface="Calibri" pitchFamily="34" charset="-120"/>
              </a:rPr>
              <a:t>Economía Digital · Sesión 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2026-08-04T00:09:41Z</dcterms:created>
  <dcterms:modified xsi:type="dcterms:W3CDTF">2026-08-04T00:09:41Z</dcterms:modified>
</cp:coreProperties>
</file>