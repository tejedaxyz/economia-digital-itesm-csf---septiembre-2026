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f(nᵉ) — adopción con retroalimentación</c:v>
                </c:pt>
              </c:strCache>
            </c:strRef>
          </c:tx>
          <c:spPr>
            <a:solidFill>
              <a:srgbClr val="005AB5"/>
            </a:solidFill>
            <a:ln w="38100" cap="flat">
              <a:solidFill>
                <a:srgbClr val="005A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5AB5"/>
              </a:solidFill>
              <a:ln w="9525" cap="flat">
                <a:solidFill>
                  <a:srgbClr val="005A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0.1457615790142517</c:v>
                </c:pt>
                <c:pt idx="1">
                  <c:v>0.3504973817300352</c:v>
                </c:pt>
                <c:pt idx="2">
                  <c:v>0.8171344079125017</c:v>
                </c:pt>
                <c:pt idx="3">
                  <c:v>1.7813717416216484</c:v>
                </c:pt>
                <c:pt idx="4">
                  <c:v>3.4241445150542558</c:v>
                </c:pt>
                <c:pt idx="5">
                  <c:v>5.478076036745587</c:v>
                </c:pt>
                <c:pt idx="6">
                  <c:v>7.244942802352255</c:v>
                </c:pt>
                <c:pt idx="7">
                  <c:v>8.33837580143828</c:v>
                </c:pt>
                <c:pt idx="8">
                  <c:v>8.883474361636985</c:v>
                </c:pt>
                <c:pt idx="9">
                  <c:v>9.126029457424504</c:v>
                </c:pt>
                <c:pt idx="10">
                  <c:v>9.228474854301973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Recta de 45° — f(nᵉ) = nᵉ</c:v>
                </c:pt>
              </c:strCache>
            </c:strRef>
          </c:tx>
          <c:spPr>
            <a:solidFill>
              <a:srgbClr val="C99735"/>
            </a:solidFill>
            <a:ln w="38100" cap="flat">
              <a:solidFill>
                <a:srgbClr val="C997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9735"/>
              </a:solidFill>
              <a:ln w="9525" cap="flat">
                <a:solidFill>
                  <a:srgbClr val="C997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0.93</c:v>
                </c:pt>
                <c:pt idx="2">
                  <c:v>1.86</c:v>
                </c:pt>
                <c:pt idx="3">
                  <c:v>2.79</c:v>
                </c:pt>
                <c:pt idx="4">
                  <c:v>3.72</c:v>
                </c:pt>
                <c:pt idx="5">
                  <c:v>4.65</c:v>
                </c:pt>
                <c:pt idx="6">
                  <c:v>5.58</c:v>
                </c:pt>
                <c:pt idx="7">
                  <c:v>6.510000000000001</c:v>
                </c:pt>
                <c:pt idx="8">
                  <c:v>7.44</c:v>
                </c:pt>
                <c:pt idx="9">
                  <c:v>8.370000000000001</c:v>
                </c:pt>
                <c:pt idx="10">
                  <c:v>9.3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26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26C"/>
                    </a:solidFill>
                    <a:latin typeface="Arial"/>
                  </a:rPr>
                  <a:t>nᵉ (tamaño esperado de la red)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A626C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A626C"/>
                    </a:solidFill>
                    <a:latin typeface="Arial"/>
                  </a:rPr>
                  <a:t>f(nᵉ)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2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50">
              <a:solidFill>
                <a:srgbClr val="5A626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669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ITESM CAMPUS SANTA FE  ·  DEPARTAMENTO DE ECONOMÍA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Economía Digital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 — Tema 2: Mercados digitales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58368" y="4114800"/>
            <a:ext cx="3291840" cy="0"/>
          </a:xfrm>
          <a:prstGeom prst="line">
            <a:avLst/>
          </a:prstGeom>
          <a:noFill/>
          <a:ln w="25400">
            <a:solidFill>
              <a:srgbClr val="C997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15 de septiembre de 2026   ·   10:00–13:00 h (bloque de 2 horas)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Leonardo González Tejeda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de clase — material de apoyo 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minutos · tres subtemas + ejercicio guiado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0352" cy="53035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mercado (HHI, disputabilidad)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0" y="160020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313432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40864"/>
            <a:ext cx="530352" cy="53035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408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31343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Externalidades de red directas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0" y="231343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026664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C7CDD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026664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302666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39896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67328"/>
            <a:ext cx="530352" cy="53035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67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739896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dos lados (Armstrong)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0" y="373989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453128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480560"/>
            <a:ext cx="530352" cy="53035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805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453128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de mercado en la economía digital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0" y="445312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515600" cy="0"/>
          </a:xfrm>
          <a:prstGeom prst="line">
            <a:avLst/>
          </a:prstGeom>
          <a:noFill/>
          <a:ln w="12700">
            <a:solidFill>
              <a:srgbClr val="E3E7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5166360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guiado + síntesis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44000" y="516636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1–2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343400" y="594360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5" name="Text 3"/>
          <p:cNvSpPr/>
          <p:nvPr/>
        </p:nvSpPr>
        <p:spPr>
          <a:xfrm>
            <a:off x="4343400" y="5943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83480" y="5486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HHI y relacionarlo con la disputabilidad de un mercado.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343400" y="1764792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64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719072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el modelo de expectativas cumplidas de Katz y Shapiro.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43400" y="2935224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9352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2889504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Ley de Metcalfe (V(n) ~ n^2).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43400" y="4105656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4105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4059936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la estructura de precios de Armstrong y el efecto seesaw.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343400" y="5276088"/>
            <a:ext cx="420624" cy="42062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52760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5230368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cuatro fallos de mercado de la economía digital.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costos decrecientes a redes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1: F* alto, c* → 0 ⟹ costo medio decreciente.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Hoy: le añadimos las externalidades de red — juntos explican la concentración extrema.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para el grupo: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“¿Por qué usan WhatsApp y no otra aplicación de mensajería con mejores funciones?”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(Respuesta esperada: porque todos sus contactos ya la usan — el valor depende de cuántos otros la usan.)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de mercado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Concentración, HHI y disputabilidad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índice de Herfindahl–Hirschman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5156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A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HHI  =  Σ sᵢ²  ×  10,000,      sᵢ = qᵢ / Σⱼqⱼ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numérico — 4 firmas con cuotas de 40%, 30%, 20%, 10%: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11064240" cy="82296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54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4E1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HHI = (0.4² + 0.3² + 0.2² + 0.1²) × 10,000 = (0.16+0.09+0.04+0.01) × 10,000 = 3,000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“alta concentración” en las guías de fusiones de EE. UU. y la UE: HHI &gt; 2,500.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11064240" cy="105156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8006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clave: mercado disputable (Baumol, Panzar y Willig, 1982) — lo relevante no es la cuota observada, sino la amenaza creíble de entrada. Un HHI alto no implica, por sí solo, ineficiencia estática.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2.1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de mercado digital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320040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Estructura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Rasgo distintivo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Ejemplo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72E"/>
                          </a:solidFill>
                        </a:rPr>
                        <a:t>Competencia monopolística digital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2E"/>
                          </a:solidFill>
                        </a:rPr>
                        <a:t>Diferenciación por datos/personalización, costos de cambio bajos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2E"/>
                          </a:solidFill>
                        </a:rPr>
                        <a:t>Apps de delivery, e-commerce de nicho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72E"/>
                          </a:solidFill>
                        </a:rPr>
                        <a:t>Oligopolio de plataforma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2E"/>
                          </a:solidFill>
                        </a:rPr>
                        <a:t>Efectos de red + economías de escala de oferta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2E"/>
                          </a:solidFill>
                        </a:rPr>
                        <a:t>Sistemas operativos móviles, buscadores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272E"/>
                          </a:solidFill>
                        </a:rPr>
                        <a:t>“Contestable monopoly”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2E"/>
                          </a:solidFill>
                        </a:rPr>
                        <a:t>Barreras endógenas pero disputabilidad tecnológica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272E"/>
                          </a:solidFill>
                        </a:rPr>
                        <a:t>Redes sociales ante nuevos formatos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5720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adicionales para discutir: sistemas operativos móviles (Android/iOS), cómputo en la nube (AWS/Azure/GCP), motores de búsqueda.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¿qué mercado con HHI alto les parece, sin embargo, disputable? ¿Qué activo podría erosionar esa posición?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2.1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2.2a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Externalidades de red directas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expectativas cumplidas de Katz y Shapiro (1985)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Utilidad de red y Ley de Metcalfe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A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Uᵢ(nᵉ)  =  θᵢ · v(nᵉ),      v′(·) &gt; 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1064240" cy="91440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E1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V(n)  ∝  n(n−1)/2  ∼  n²      (para n grande)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mental: número de conexiones posibles 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349240" cy="10972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1480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pares posibles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080760" y="4114800"/>
            <a:ext cx="5532120" cy="1097280"/>
          </a:xfrm>
          <a:prstGeom prst="rect">
            <a:avLst/>
          </a:prstGeom>
          <a:solidFill>
            <a:srgbClr val="122A48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4114800"/>
            <a:ext cx="5532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4,950 pares posibles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aumento de 10× en usuarios genera un aumento de ~110× en conexiones posibles — la aceleración cuadrática de Metcalfe.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2.2a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2 · Equilibrios de expectativas cumplidas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Katz y Shapiro (1985)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11064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2.2a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equilibrios de adopción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11880" cy="4206240"/>
          </a:xfrm>
          <a:prstGeom prst="rect">
            <a:avLst/>
          </a:prstGeom>
          <a:solidFill>
            <a:srgbClr val="1A33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Fracaso de adopción: sin masa inicial suficiente, la red colapsa a cero.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611880" cy="4206240"/>
          </a:xfrm>
          <a:prstGeom prst="rect">
            <a:avLst/>
          </a:prstGeom>
          <a:solidFill>
            <a:srgbClr val="1C3A5E"/>
          </a:solidFill>
          <a:ln w="19050">
            <a:solidFill>
              <a:srgbClr val="C997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691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n*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2628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Inestable — masa crítica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26280" y="288036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que separa el fracaso del éxito: por debajo, la red decae; por encima, crece.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611880" cy="4206240"/>
          </a:xfrm>
          <a:prstGeom prst="rect">
            <a:avLst/>
          </a:prstGeom>
          <a:solidFill>
            <a:srgbClr val="1A335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69164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C9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n_max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32104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21040" y="2880360"/>
            <a:ext cx="3246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generalizada: la red alcanza su tamaño de equilibrio superior.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2.2a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Estática comparativa: subsidio de lanzamiento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A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Un subsidio que desplaza f(nᵉ) hacia arriba en ε &gt; 0 reduce n*:      dn*/dε  &lt;  0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64240" cy="237744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Mecanismo de subsidio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</a:rPr>
                        <a:t>PayPal (1999–2000)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</a:rPr>
                        <a:t>$10 por registro + $10 por referido — reducir n* antes que la competencia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</a:rPr>
                        <a:t>Uber / apps de movilidad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</a:rPr>
                        <a:t>Bonos de bienvenida a pasajeros y conductores en cada nueva ciudad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72E"/>
                          </a:solidFill>
                        </a:rPr>
                        <a:t>WhatsApp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72E"/>
                          </a:solidFill>
                        </a:rPr>
                        <a:t>Adopción temprana en mercados de alto costo de SMS — curva f(nᵉ) muy empinada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00600"/>
            <a:ext cx="11064240" cy="105156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8006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2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Error común: “masa crítica” ≠ “rentabilidad”. Una red puede superar n* y seguir sin ser rentable durante años (véase el caso de Uber, Lectura complementaria [3]).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2.2a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2.2b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Mercados de dos lados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cruzados y el efecto seesaw de Armstrong (2006)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estructura de un mercado de dos lados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A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U_B = u_B(n_S) − p_B          U_S = u_S(n_B) − p_S          u′_B, u′_S &gt; 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lado del mercado valora la participación del otro: un comprador valora más el marketplace cuanto más vendedores hay, y viceversa.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Rochet y Tirole (2003, 2006): la plataforma que maximiza beneficios internaliza estas externalidades cruzadas fijando una ESTRUCTURA de precios —no solo un nivel.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2.2b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fórmula de Armstrong (2006)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645920"/>
          </a:xfrm>
          <a:prstGeom prst="rect">
            <a:avLst/>
          </a:prstGeom>
          <a:solidFill>
            <a:srgbClr val="122A4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C9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p_B − c_B  =  1/η_B  −  n_S · (∂u_S/∂n_B)/(∂u_S/∂p_S)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C97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p_S − c_S  =  1/η_S  −  n_B · (∂u_B/∂n_S)/(∂u_B/∂p_B)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1/ηₖ  →  margen de monopolio estándar (inverso de la elasticidad-precio propia)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término  →  la externalidad cruzada que ese lado genera sobre el otro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11064240" cy="141732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434840"/>
            <a:ext cx="10515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seesaw: el lado que genera mayor externalidad positiva sobre el otro (y/o es más elástico) recibe el subsidio; el lado menos elástico y/o más beneficiado financia la operación —incluso con pₖ &lt; cₖ.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2.2b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Figura 3 · El efecto seesaw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6517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651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(usuarios finales)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17720" y="2468880"/>
            <a:ext cx="2926080" cy="1737360"/>
          </a:xfrm>
          <a:prstGeom prst="roundRect">
            <a:avLst>
              <a:gd name="adj" fmla="val 4211"/>
            </a:avLst>
          </a:prstGeom>
          <a:solidFill>
            <a:srgbClr val="122A48"/>
          </a:solidFill>
          <a:ln/>
        </p:spPr>
      </p:sp>
      <p:sp>
        <p:nvSpPr>
          <p:cNvPr id="6" name="Text 4"/>
          <p:cNvSpPr/>
          <p:nvPr/>
        </p:nvSpPr>
        <p:spPr>
          <a:xfrm>
            <a:off x="4617720" y="246888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(costo marginal c_B + c_S)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95360" y="265176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4F6F8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0" y="2651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(anunciantes/vendedores)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11880" y="3108960"/>
            <a:ext cx="960120" cy="411480"/>
          </a:xfrm>
          <a:prstGeom prst="rightArrow">
            <a:avLst/>
          </a:prstGeom>
          <a:solidFill>
            <a:srgbClr val="005AB5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1488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p_B ≈ 0 (subsidiado)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35240" y="3108960"/>
            <a:ext cx="914400" cy="411480"/>
          </a:xfrm>
          <a:prstGeom prst="rightArrow">
            <a:avLst/>
          </a:prstGeom>
          <a:solidFill>
            <a:srgbClr val="C99735"/>
          </a:solidFill>
          <a:ln/>
        </p:spPr>
      </p:sp>
      <p:sp>
        <p:nvSpPr>
          <p:cNvPr id="12" name="Text 10"/>
          <p:cNvSpPr/>
          <p:nvPr/>
        </p:nvSpPr>
        <p:spPr>
          <a:xfrm>
            <a:off x="7543800" y="21488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p_S &gt; c_S (financia)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23360" y="4572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 indirecta u_B(n_S)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4754880"/>
            <a:ext cx="4892040" cy="0"/>
          </a:xfrm>
          <a:prstGeom prst="line">
            <a:avLst/>
          </a:prstGeom>
          <a:noFill/>
          <a:ln w="12700">
            <a:solidFill>
              <a:srgbClr val="5A626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2.2b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mercados de dos lados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/>
              <a:tblGrid>
                <a:gridCol w="3931920"/>
                <a:gridCol w="3931920"/>
                <a:gridCol w="32004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Lado subsidiado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Lado que financia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4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Ride-hailing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Conductores (comisión reducida)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Pasajeros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Tarjetas de pago (Visa/Mastercard)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Tarjetahabientes (sin anualidad, recompensas)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Comercios (comisión por transacción)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Periódicos y clasificados (histórico)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Lectores (precio bajo/simbólico)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Anunciantes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72E"/>
                          </a:solidFill>
                        </a:rPr>
                        <a:t>Buscadores de internet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Usuarios (gratis)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72E"/>
                          </a:solidFill>
                        </a:rPr>
                        <a:t>Anunciantes (pago por clic)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892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5A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en las tarjetas de pago, ¿por qué los comercios —y no los tarjetahabientes— terminan financiando la mayor parte del sistema?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5 · 2.2b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997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663440" y="23317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Fallos de mercado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663440" y="3703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Externalidades de datos, selección adversa, tipping y lock-in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fallos de mercado de la economía digital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81328"/>
            <a:ext cx="502920" cy="50292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2801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Externalidades de datos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663440" y="128016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social marginal(dᵢ) &gt; Beneficio privado marginal(dᵢ). Ej.: los datos de tráfico de Waze benefician a miles de usuarios sin compensación al generador.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18872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61488"/>
            <a:ext cx="502920" cy="50292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61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560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adversa (Akerlof)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comprador no distingue calidad, p* refleja la calidad promedio, expulsando a los vendedores de mayor calidad. Mitigado por reputación (Mercado Libre).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064240" cy="1188720"/>
          </a:xfrm>
          <a:prstGeom prst="rect">
            <a:avLst/>
          </a:prstGeom>
          <a:solidFill>
            <a:srgbClr val="E9F6E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4041648"/>
            <a:ext cx="502920" cy="50292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41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8404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Tipping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nᵉ &gt; n*, el mercado se inclina hacia un proveedor dominante aun con calidad comparable entre competidores — path dependence.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solidFill>
            <a:srgbClr val="F3E9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5321808"/>
            <a:ext cx="502920" cy="502920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21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51206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Lock-in / costos de cambio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63440" y="512064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V_lock-in = SC + Δ. Sostiene rentas por encima del costo marginal incluso con mejor precio nominal de un competidor.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2.3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Caso: Mercado Libre y la reputación como bien informacional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calificaciones de Mercado Libre reduce el problema de selección adversa tipo Akerlof al transformar la calidad no observable del vendedor en una señal pública y acumulativa.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10881360" cy="219456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Discuta en clase: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ocurre con el equilibrio de mercado si la plataforma permite la compra de reseñas falsas (erosión de la señal)? Modele el efecto sobre p* y sobre el bienestar del comprador marginal.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2.3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guiado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2377440"/>
          </a:xfrm>
          <a:prstGeom prst="rect">
            <a:avLst/>
          </a:prstGeom>
          <a:solidFill>
            <a:srgbClr val="E9F1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10424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122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el sistema de precios de Armstrong para una plataforma de ride-hailing con pasajeros (B) y conductores (S). Si una mejora tecnológica (mejor emparejamiento algorítmico) incrementa ∂u_B/∂n_S, derive el efecto sobre p_S − c_S y explique por qué la plataforma podría reducir aún más la comisión efectiva a los conductores.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Trabajen en parejas (3 minutos) antes de resolverlo juntos en el pizarrón.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Solución: el argumento del efecto seesaw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1051560"/>
            <a:ext cx="104241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10515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72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p_S − c_S = 1/η_S − n_B·(∂u_B/∂n_S)/(∂u_B/∂p_B)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938528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38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1892808"/>
            <a:ext cx="104241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892808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∂u_B/∂n_S &gt; 0  (más conductores ⟹ mayor utilidad del pasajero)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779776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79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2734056"/>
            <a:ext cx="104241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2734056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∂u_B/∂n_S ↑ ⟹ conductores generan MAYOR externalidad positiva sobre pasajeros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621024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21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8720" y="3575304"/>
            <a:ext cx="1042416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575304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seesaw: mayor externalidad generada ⟹ mayor subsidio a ese lado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462272"/>
            <a:ext cx="438912" cy="438912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622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88720" y="4416552"/>
            <a:ext cx="10424160" cy="777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1417320" y="4416552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p_S − c_S cae — comisión efectiva menor a los conductores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64240" cy="1051560"/>
          </a:xfrm>
          <a:prstGeom prst="rect">
            <a:avLst/>
          </a:prstGeom>
          <a:solidFill>
            <a:srgbClr val="FAF3E2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3949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el álgebra de signos exacta depende de la convención adoptada para ∂u_B/∂p_B; el argumento económico del efecto seesaw es la vía más robusta para justificar la conclusión.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 de la sesión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270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4173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HHI mide concentración; la disputabilidad determina si esa concentración preocupa.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414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3317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externalidades de red generan tres equilibrios: n=0, n* (masa crítica) y n_max.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558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461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mercados de dos lados, la plataforma fija una estructura de precios: el lado con mayor externalidad positiva recibe el subsidio (efecto seesaw).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70248"/>
            <a:ext cx="146304" cy="146304"/>
          </a:xfrm>
          <a:prstGeom prst="ellipse">
            <a:avLst/>
          </a:prstGeom>
          <a:solidFill>
            <a:srgbClr val="C9973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16052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Externalidades de datos, selección adversa, tipping y lock-in son cuatro fallos de mercado que emergen de la misma estructura de costos y de red.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1208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7C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 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aplicaremos Coase a decisiones de integración vertical y horizontal, y estudiaremos innovación bajo amenaza de canibalización. Revisar antes: Lectura complementaria [3].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Digital · Sesión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2026-08-03T15:08:04Z</dcterms:created>
  <dcterms:modified xsi:type="dcterms:W3CDTF">2026-08-03T15:08:04Z</dcterms:modified>
</cp:coreProperties>
</file>