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AC(Q) = F*/Q + c*</c:v>
                </c:pt>
              </c:strCache>
            </c:strRef>
          </c:tx>
          <c:spPr>
            <a:solidFill>
              <a:srgbClr val="005AB5"/>
            </a:solidFill>
            <a:ln w="38100" cap="flat">
              <a:solidFill>
                <a:srgbClr val="005A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5AB5"/>
              </a:solidFill>
              <a:ln w="9525" cap="flat">
                <a:solidFill>
                  <a:srgbClr val="005A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10.6</c:v>
                </c:pt>
                <c:pt idx="1">
                  <c:v>5.6</c:v>
                </c:pt>
                <c:pt idx="2">
                  <c:v>3.9333333333333336</c:v>
                </c:pt>
                <c:pt idx="3">
                  <c:v>3.1</c:v>
                </c:pt>
                <c:pt idx="4">
                  <c:v>2.6</c:v>
                </c:pt>
                <c:pt idx="5">
                  <c:v>2.2666666666666666</c:v>
                </c:pt>
                <c:pt idx="6">
                  <c:v>2.0285714285714285</c:v>
                </c:pt>
                <c:pt idx="7">
                  <c:v>1.85</c:v>
                </c:pt>
                <c:pt idx="8">
                  <c:v>1.7111111111111112</c:v>
                </c:pt>
                <c:pt idx="9">
                  <c:v>1.6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MC(Q) = c* (≈ constante)</c:v>
                </c:pt>
              </c:strCache>
            </c:strRef>
          </c:tx>
          <c:spPr>
            <a:solidFill>
              <a:srgbClr val="C99735"/>
            </a:solidFill>
            <a:ln w="38100" cap="flat">
              <a:solidFill>
                <a:srgbClr val="C997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9735"/>
              </a:solidFill>
              <a:ln w="9525" cap="flat">
                <a:solidFill>
                  <a:srgbClr val="C997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0.6</c:v>
                </c:pt>
                <c:pt idx="1">
                  <c:v>0.6</c:v>
                </c:pt>
                <c:pt idx="2">
                  <c:v>0.6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26C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A626C"/>
                    </a:solidFill>
                    <a:latin typeface="Arial"/>
                  </a:rPr>
                  <a:t>Cantidad producida/distribuida, Q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2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9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26C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A626C"/>
                    </a:solidFill>
                    <a:latin typeface="Arial"/>
                  </a:rPr>
                  <a:t>Costo (unidades monetarias)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2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5A626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ITESM CAMPUS SANTA FE  ·  DEPARTAMENTO DE ECONOMÍA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Digital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— Tema 1: La economía digital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58368" y="4114800"/>
            <a:ext cx="3291840" cy="0"/>
          </a:xfrm>
          <a:prstGeom prst="line">
            <a:avLst/>
          </a:prstGeom>
          <a:noFill/>
          <a:ln w="25400">
            <a:solidFill>
              <a:srgbClr val="C997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43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14 de septiembre de 2026   ·   10:00–13:00 h (bloque de 2 horas)
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Leonardo González Tejeda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clase — material de apoyo docente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minutos · cuatro subtemas + ejercicio guiado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55064"/>
            <a:ext cx="457200" cy="457200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55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60020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Digitalización de la economía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0" y="160020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313432"/>
            <a:ext cx="1051560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368296"/>
            <a:ext cx="457200" cy="457200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68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313432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 tradicionales y bienes digitales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0" y="2313432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026664"/>
            <a:ext cx="1051560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C7CDD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81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3026664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Receso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0" y="302666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739896"/>
            <a:ext cx="1051560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25880" y="3739896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internet de las cosas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0" y="3739896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453128"/>
            <a:ext cx="1051560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507992"/>
            <a:ext cx="457200" cy="457200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07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25880" y="4453128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de transacción y costo marginal nulo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0" y="445312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166360"/>
            <a:ext cx="1051560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221224"/>
            <a:ext cx="457200" cy="457200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221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25880" y="516636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guiado + síntesis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44000" y="516636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1–2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sesión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343400" y="594360"/>
            <a:ext cx="420624" cy="42062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5" name="Text 3"/>
          <p:cNvSpPr/>
          <p:nvPr/>
        </p:nvSpPr>
        <p:spPr>
          <a:xfrm>
            <a:off x="4343400" y="5943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83480" y="54864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la estructura de costos de un bien digital (F* alto, c* → 0).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43400" y="1764792"/>
            <a:ext cx="420624" cy="42062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764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1719072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un bien digital de uno tradicional mediante las cuatro propiedades de Shapiro y Varian.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343400" y="2935224"/>
            <a:ext cx="420624" cy="42062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29352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2889504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los tres efectos económicos del Internet de las Cosas.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343400" y="4105656"/>
            <a:ext cx="420624" cy="42062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41056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4059936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la teoría de la firma de Coase a la digitalización.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4343400" y="5276088"/>
            <a:ext cx="420624" cy="42062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52760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5230368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un ejercicio de escala mínima eficiente y su estática comparativa.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“economía digital”?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91640"/>
            <a:ext cx="10149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“La tecnología cambia, pero las leyes de la economía permanecen.”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rgbClr val="5A62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síntesis de C. Shapiro y H. R. Varian, El dominio de la información (2000)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para el grupo: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“¿Cuánto le cuesta a Spotify que ustedes escuchen una canción una vez más?”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463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(Respuesta esperada del grupo: casi nada → hoy convertimos esa intuición en una ecuación precisa.)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99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663440" y="233172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Digitalización de la economía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663440" y="3703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economía tradicional a la economía digital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Digitalización: de átomos a bits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4206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2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ÁTOMOS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encarnada en soportes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físicos: papel, vinilo, cinta, celuloide.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06440" y="3063240"/>
            <a:ext cx="640080" cy="457200"/>
          </a:xfrm>
          <a:prstGeom prst="rightArrow">
            <a:avLst/>
          </a:prstGeom>
          <a:solidFill>
            <a:srgbClr val="C99735"/>
          </a:solidFill>
          <a:ln/>
        </p:spPr>
      </p:sp>
      <p:sp>
        <p:nvSpPr>
          <p:cNvPr id="7" name="Shape 5"/>
          <p:cNvSpPr/>
          <p:nvPr/>
        </p:nvSpPr>
        <p:spPr>
          <a:xfrm>
            <a:off x="6537960" y="1371600"/>
            <a:ext cx="5120640" cy="4206240"/>
          </a:xfrm>
          <a:prstGeom prst="rect">
            <a:avLst/>
          </a:prstGeom>
          <a:solidFill>
            <a:srgbClr val="122A48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600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C9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03720" y="21945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Representaciones binarias: reproducibles,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transmisibles y almacenables a costo casi nulo.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5806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Negroponte, N. (1995). Being Digital.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transformación altera la función de costos de la firma —no solo su canal de distribución.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1.1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estructuras de costos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12080" cy="42976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A62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Bien tradicional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7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C_trad(Q) = F + cQ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&gt; 0 apreciable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fabricar una silla adicional consume madera, herrajes y mano de obra en cada unidad.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303520" cy="4297680"/>
          </a:xfrm>
          <a:prstGeom prst="rect">
            <a:avLst/>
          </a:prstGeom>
          <a:solidFill>
            <a:srgbClr val="122A48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691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C9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Bien digital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75120" y="22860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C_dig(Q) = F* + c*Q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75120" y="2880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F* ≫ F      c* → 0⁺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338328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grabar un álbum o entrenar un modelo cuesta mucho (F*); servir una reproducción adicional cuesta casi nada (c*).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1.1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costo medio es estrictamente decreciente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05156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A4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AC_dig(Q)  =  F*/Q  +  c*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11064240" cy="1051560"/>
          </a:xfrm>
          <a:prstGeom prst="rect">
            <a:avLst/>
          </a:prstGeom>
          <a:solidFill>
            <a:srgbClr val="FAF3E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346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4E1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∂AC_dig / ∂Q  =  −F*/Q²  &lt;  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  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economías de escala sin agotamiento técnico evidente — la base microeconómica de la tendencia a la concentración (“winner-take-most”) que formalizaremos en la Sesión 2.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Error común: “costo marginal ≈ 0” no significa “costo total = 0”. F* sigue siendo un costo real y hundido.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1.1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 · Curvas de costo de un bien digital</a:t>
            </a:r>
            <a:endParaRPr lang="en-US" sz="25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43000"/>
          <a:ext cx="110642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1.1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Caso: Netflix y Spotify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2743200"/>
        </p:xfrm>
        <a:graphic>
          <a:graphicData uri="http://schemas.openxmlformats.org/drawingml/2006/table">
            <a:tbl>
              <a:tblPr/>
              <a:tblGrid>
                <a:gridCol w="1554480"/>
                <a:gridCol w="4754880"/>
                <a:gridCol w="475488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F* (primera copia)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c* (unidad adicional)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72E"/>
                          </a:solidFill>
                        </a:rPr>
                        <a:t>Netflix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72E"/>
                          </a:solidFill>
                        </a:rPr>
                        <a:t>Producción de la serie/temporada (guion, filmación, posproducción)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72E"/>
                          </a:solidFill>
                        </a:rPr>
                        <a:t>Streaming a un suscriptor marginal (casi nulo, salvo ancho de banda y licencias)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72E"/>
                          </a:solidFill>
                        </a:rPr>
                        <a:t>Spotify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72E"/>
                          </a:solidFill>
                        </a:rPr>
                        <a:t>Grabación, mezcla y masterización del álbum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72E"/>
                          </a:solidFill>
                        </a:rPr>
                        <a:t>Reproducción adicional (ancho de banda + regalías por reproducción, casi nulas)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para el grupo: si el costo marginal es casi cero, ¿por qué Netflix no regala el servicio?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 retomará al hablar de versionado y discriminación de precios en la Sesión 2.)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1.1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99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663440" y="233172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Bienes tradicionales y bienes digitales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663440" y="3703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propiedades económicas distintivas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propiedades de un bien de información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 y Varian (1999); Varian, Farrell y Shapiro (2004)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rivalidad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0" y="1508760"/>
            <a:ext cx="6126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x_i^consumo ⇏ ↓ x_j^disponible — el consumo de uno no reduce la disponibilidad para otro.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502920" cy="502920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70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624328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Bien de experiencia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2624328"/>
            <a:ext cx="6126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valor solo se evalúa plenamente tras el consumo.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785616"/>
            <a:ext cx="502920" cy="502920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85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739896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costos asimétrica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3739896"/>
            <a:ext cx="6126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F* alto, c* → 0 (derivada en 1.1).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901184"/>
            <a:ext cx="502920" cy="502920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011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855464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Potencial de externalidades de red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0" y="4855464"/>
            <a:ext cx="6126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depende del número de otros usuarios (se formaliza en la Sesión 2).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1.2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bien de experiencia, en profundidad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22A48"/>
                </a:solidFill>
              </a:rPr>
              <a:t>“…mientras un zapato se prueba una sola vez antes de comprarlo, un bien informativo exige ‘probarse’ en cada transacción para valorarlo.”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A626C"/>
                </a:solidFill>
              </a:rPr>
              <a:t>— reseña de Guido Stein sobre Shapiro y Varian (2000)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adicional: un artículo académico de acceso abierto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resuelve el lector el problema de calidad no observable antes de invertir tiempo en leerlo?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E9F1F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34340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Reputación de la fuente / revista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434340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E9F1FB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434340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por pares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434340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E9F1FB"/>
          </a:solidFill>
          <a:ln/>
        </p:spPr>
      </p:sp>
      <p:sp>
        <p:nvSpPr>
          <p:cNvPr id="12" name="Text 10"/>
          <p:cNvSpPr/>
          <p:nvPr/>
        </p:nvSpPr>
        <p:spPr>
          <a:xfrm>
            <a:off x="8092440" y="434340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Calificaciones de otros lectores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formal: marca y reputación abaratan la incertidumbre precontractual (se retoma como solución a la selección adversa de Akerlof en la Sesión 2).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1.2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paradoja de la “riqueza de información”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280160" y="2011680"/>
            <a:ext cx="9601200" cy="173736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228600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C97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Riqueza de información   ⇒   Escasez de atención del consumidor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Herbert Simon (1971), citado en Shapiro y Varian (2000, cap. 1)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45720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C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digitalización no altera la cantidad total de información disponible, sino su accesibilidad — y esa mayor accesibilidad genera la escasez de atención que hoy organiza los modelos de negocio publicitarios de las plataformas digitales.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1.2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99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663440" y="233172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internet de las cosas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663440" y="3703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bienes de información puros a los bienes físicos instrumentados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efectos económicos del IoT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611880" cy="448056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087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Datificación como subproducto de consumo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interacción genera un flujo de datos dₜ; a mayor Σdₜ, menor el error de predicción (Sesión 4, marco de Gans).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43400" y="1280160"/>
            <a:ext cx="3611880" cy="4480560"/>
          </a:xfrm>
          <a:prstGeom prst="rect">
            <a:avLst/>
          </a:prstGeom>
          <a:solidFill>
            <a:srgbClr val="FAF3E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5087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Reducción de asimetrías de información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72000" y="27432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uso real habilita precios basados en uso p(u), en vez de precio por unidad vendida p·Q.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138160" y="1280160"/>
            <a:ext cx="3611880" cy="4480560"/>
          </a:xfrm>
          <a:prstGeom prst="rect">
            <a:avLst/>
          </a:prstGeom>
          <a:solidFill>
            <a:srgbClr val="E9F6EF"/>
          </a:solidFill>
          <a:ln/>
        </p:spPr>
      </p:sp>
      <p:sp>
        <p:nvSpPr>
          <p:cNvPr id="10" name="Text 8"/>
          <p:cNvSpPr/>
          <p:nvPr/>
        </p:nvSpPr>
        <p:spPr>
          <a:xfrm>
            <a:off x="8366760" y="15087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Nuevas externalidades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366760" y="27432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red (estándares como Matter/Thread) y de datos (uso secundario por terceros) — fallos de mercado de la Sesión 2.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1.3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Ejemplos para discutir en clase</a:t>
            </a:r>
            <a:endParaRPr lang="en-US" sz="27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/>
              <a:tblGrid>
                <a:gridCol w="5760720"/>
                <a:gridCol w="530352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Ejemplo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Mecanismo ilustrado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72E"/>
                          </a:solidFill>
                        </a:rPr>
                        <a:t>Termostatos inteligentes (Nest/Ecobee)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72E"/>
                          </a:solidFill>
                        </a:rPr>
                        <a:t>Datificación como subproducto de consumo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72E"/>
                          </a:solidFill>
                        </a:rPr>
                        <a:t>Motores de avión Rolls-Royce (“power-by-the-hour”)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72E"/>
                          </a:solidFill>
                        </a:rPr>
                        <a:t>Precios basados en uso p(u)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72E"/>
                          </a:solidFill>
                        </a:rPr>
                        <a:t>Agricultura de precisión (sensores de humedad)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72E"/>
                          </a:solidFill>
                        </a:rPr>
                        <a:t>Reducción de asimetrías de información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5262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¿qué dispositivo IoT usan ustedes cotidianamente, y qué dato genera que la empresa podría estar usando sin que lo perciban directamente?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1.3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99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663440" y="233172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Costos de transacción y costo marginal nulo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663440" y="3703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teoría de la firma de Coase, aplicada a la economía digital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condición de Coase (1937)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18872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2A4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La firma internaliza la actividad  ⟺  TC^mercado  &gt;  TC^firma + costos de agencia interna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límites de la firma están determinados por el costo relativo de coordinar actividades vía mercado frente a coordinarlas internamente.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digitalización reduce sistemáticamente TC^mercado —desplazando la frontera en ambas direcciones (ver siguiente diapositiva).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 · 1.4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costos de transacción que caen con la digitalización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Goldfarb y Tucker (2019)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084832" cy="868680"/>
          </a:xfrm>
          <a:prstGeom prst="roundRect">
            <a:avLst>
              <a:gd name="adj" fmla="val 9474"/>
            </a:avLst>
          </a:prstGeom>
          <a:solidFill>
            <a:srgbClr val="FAF3E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61488" y="1371600"/>
            <a:ext cx="2084832" cy="868680"/>
          </a:xfrm>
          <a:prstGeom prst="roundRect">
            <a:avLst>
              <a:gd name="adj" fmla="val 9474"/>
            </a:avLst>
          </a:prstGeom>
          <a:solidFill>
            <a:srgbClr val="FAF3E2"/>
          </a:solidFill>
          <a:ln/>
        </p:spPr>
      </p:sp>
      <p:sp>
        <p:nvSpPr>
          <p:cNvPr id="7" name="Text 5"/>
          <p:cNvSpPr/>
          <p:nvPr/>
        </p:nvSpPr>
        <p:spPr>
          <a:xfrm>
            <a:off x="2761488" y="1371600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Replicación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74336" y="1371600"/>
            <a:ext cx="2084832" cy="868680"/>
          </a:xfrm>
          <a:prstGeom prst="roundRect">
            <a:avLst>
              <a:gd name="adj" fmla="val 9474"/>
            </a:avLst>
          </a:prstGeom>
          <a:solidFill>
            <a:srgbClr val="FAF3E2"/>
          </a:solidFill>
          <a:ln/>
        </p:spPr>
      </p:sp>
      <p:sp>
        <p:nvSpPr>
          <p:cNvPr id="9" name="Text 7"/>
          <p:cNvSpPr/>
          <p:nvPr/>
        </p:nvSpPr>
        <p:spPr>
          <a:xfrm>
            <a:off x="4974336" y="1371600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87184" y="1371600"/>
            <a:ext cx="2084832" cy="868680"/>
          </a:xfrm>
          <a:prstGeom prst="roundRect">
            <a:avLst>
              <a:gd name="adj" fmla="val 9474"/>
            </a:avLst>
          </a:prstGeom>
          <a:solidFill>
            <a:srgbClr val="FAF3E2"/>
          </a:solidFill>
          <a:ln/>
        </p:spPr>
      </p:sp>
      <p:sp>
        <p:nvSpPr>
          <p:cNvPr id="11" name="Text 9"/>
          <p:cNvSpPr/>
          <p:nvPr/>
        </p:nvSpPr>
        <p:spPr>
          <a:xfrm>
            <a:off x="7187184" y="1371600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400032" y="1371600"/>
            <a:ext cx="2084832" cy="868680"/>
          </a:xfrm>
          <a:prstGeom prst="roundRect">
            <a:avLst>
              <a:gd name="adj" fmla="val 9474"/>
            </a:avLst>
          </a:prstGeom>
          <a:solidFill>
            <a:srgbClr val="FAF3E2"/>
          </a:solidFill>
          <a:ln/>
        </p:spPr>
      </p:sp>
      <p:sp>
        <p:nvSpPr>
          <p:cNvPr id="13" name="Text 11"/>
          <p:cNvSpPr/>
          <p:nvPr/>
        </p:nvSpPr>
        <p:spPr>
          <a:xfrm>
            <a:off x="9400032" y="1371600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606040"/>
            <a:ext cx="11064240" cy="960120"/>
          </a:xfrm>
          <a:prstGeom prst="rect">
            <a:avLst/>
          </a:prstGeom>
          <a:solidFill>
            <a:srgbClr val="122A4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060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C97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τ_k^digital  =  τ_k^tradicional · (1 − δ_k),      δ_k ∈ (0,1]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 dual — la frontera de Coase se desplaza en dos direcciones simultáneas: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5394960" cy="169164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80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Hacia el mercado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8463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Subcontratación, gig economy: coordinar ya no requiere una relación laboral tradicional dentro de la firma.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4343400"/>
            <a:ext cx="5440680" cy="1691640"/>
          </a:xfrm>
          <a:prstGeom prst="rect">
            <a:avLst/>
          </a:prstGeom>
          <a:solidFill>
            <a:srgbClr val="FAF3E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480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(ii) Hacia la plataforma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48463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Internalización dentro de una sola arquitectura tecnológica de transacciones que antes requerían múltiples intermediarios.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 · 1.4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central: la economía gig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41148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Uber / Airbnb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hacia el mercado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coordinar un viaje o renta con un desconocido era demasiado costoso vía mercado spot.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reputación, geolocalización y pago digital reducen esos costos lo suficiente como para prescindir de una relación laboral tradicional.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349240" cy="4114800"/>
          </a:xfrm>
          <a:prstGeom prst="rect">
            <a:avLst/>
          </a:prstGeom>
          <a:solidFill>
            <a:srgbClr val="122A4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C9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Marketplace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8368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(ii) hacia la plataforma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60604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internaliza, dentro de una sola arquitectura tecnológica, transacciones que antes requerían múltiples intermediarios mayoristas y minoristas independientes.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 · 1.4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guiado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210312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00200"/>
            <a:ext cx="104241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22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 C(Q) = F* + c*Q con F* = 500,000 y c* = 0.02, obtenga AC(Q) y determine la escala mínima eficiente aproximada para alcanzar AC(Q) ≤ 1.10 c*. Analice cómo cambia dicha escala si un competidor logra reducir F* en 40% mediante infraestructura en la nube — es decir, resuelva ∂Q_mín/∂F*.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Trabajen en parejas (3 minutos) antes de resolverlo juntos en el pizarrón.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 paso a paso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438912" cy="43891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1097280"/>
            <a:ext cx="1042416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0972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7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AC(Q) = 500,000/Q + 0.02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438912" cy="43891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84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88720" y="1938528"/>
            <a:ext cx="104241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938528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7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AC(Q) ≤ 1.10·c*  ⟺  F*/Q ≤ 0.10·c*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825496"/>
            <a:ext cx="438912" cy="43891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254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88720" y="2779776"/>
            <a:ext cx="1042416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2779776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7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≥ 500,000 / (0.10 × 0.02) = 250,000,000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666744"/>
            <a:ext cx="438912" cy="43891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667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88720" y="3621024"/>
            <a:ext cx="104241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3621024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7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∂Q_mín/∂F* = 1/(0.10·c*) = 500  (lineal)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4507992"/>
            <a:ext cx="438912" cy="43891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507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88720" y="4462272"/>
            <a:ext cx="1042416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2" name="Text 20"/>
          <p:cNvSpPr/>
          <p:nvPr/>
        </p:nvSpPr>
        <p:spPr>
          <a:xfrm>
            <a:off x="1417320" y="446227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7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F* ↓ 40%  ⟹  Q_mín: 250M → 150,000,000 (↓ 40%)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48640" y="5458968"/>
            <a:ext cx="11064240" cy="960120"/>
          </a:xfrm>
          <a:prstGeom prst="rect">
            <a:avLst/>
          </a:prstGeom>
          <a:solidFill>
            <a:srgbClr val="FAF3E2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458968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clave: la proporcionalidad entre ΔF* y ΔQ_mín explica por qué el cómputo en la nube reduce las barreras de entrada en industrias digitales.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1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Síntesis de la sesión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27048"/>
            <a:ext cx="146304" cy="14630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4173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bien digital tiene F* alto y c* → 0 ⟹ costo medio estrictamente decreciente.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146304" cy="14630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propiedades (Shapiro–Varian) distinguen al bien digital del tradicional.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264408"/>
            <a:ext cx="146304" cy="14630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1546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IoT extiende esta lógica a bienes físicos: datificación, precios por uso, nuevas externalidades.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133088"/>
            <a:ext cx="146304" cy="14630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0233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caída de costos de transacción (Coase) explica, a la vez, la fragmentación (gig economy) y la concentración (plataformas).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1206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E7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 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añadiremos las externalidades de red a esta estructura de costos — juntas explican la concentración extrema de los mercados digitales. Revisar antes: Lectura complementaria [1].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2026-08-03T07:48:38Z</dcterms:created>
  <dcterms:modified xsi:type="dcterms:W3CDTF">2026-08-03T07:48:39Z</dcterms:modified>
</cp:coreProperties>
</file>