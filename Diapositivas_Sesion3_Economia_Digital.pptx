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ITESM CAMPUS SANTA FE  ·  DEPARTAMENTO DE ECONOMÍA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Digital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— Tema 3 (parte I): Modelos de negocio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4114800"/>
            <a:ext cx="3291840" cy="0"/>
          </a:xfrm>
          <a:prstGeom prst="line">
            <a:avLst/>
          </a:prstGeom>
          <a:noFill/>
          <a:ln w="25400">
            <a:solidFill>
              <a:srgbClr val="C997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17 de septiembre de 2026   ·   10:00–13:00 h (bloque de 2 horas)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Leonardo González Tejeda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clase — material de apoyo 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minutos · dos subtemas + ejercicio guiado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transacción e integración vertical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0" y="16002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40864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40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propiedad residuales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3134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C7CDD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02666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30266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39896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67328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7398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Economías de alcance y envolvimiento de plataformas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7398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453128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480560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805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45312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digital (Arrow, Christensen, Gans)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453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516636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guiado + síntesis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51663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1–2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43400" y="594360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4343400" y="594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83480" y="548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costos de transacción (Coase, Williamson) a integración vertical.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43400" y="1764792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719072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derechos de propiedad residuales (Grossman–Hart–Moore).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43400" y="2935224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935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889504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economías de alcance y el envolvimiento de plataformas.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400" y="4105656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4059936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efecto de reemplazo de Arrow y la innovación disruptiva.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43400" y="5276088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276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5230368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un ejercicio de viabilidad de un entrante especializado.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Amazon vende cómputo en la nube?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nació como una librería en línea. Hoy, AWS —su negocio de cómputo en la nube— genera una fracción desproporcionadamente alta de su utilidad operativa consolidada.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el grupo: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“¿Por qué una empresa de comercio minorista terminó vendiendo infraestructura de cómputo a sus propios competidores?”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 formalizamos la respuesta con costos de transacción y economías de alcance.)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3.1a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transacción 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vertical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Coase (1937) y Williamson (1985)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límites de la firma a la integración vertical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vertical es óptima cuando TC^mercado —agravado por especificidad de activos, incertidumbre y oportunismo— supera los costos burocráticos de la coordinación interna.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10515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 de activos en plataformas digitales: datos propietarios y modelos algorítmicos entrenados, difícilmente transferibles sin pérdida de valor.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1965960"/>
        </p:xfrm>
        <a:graphic>
          <a:graphicData uri="http://schemas.openxmlformats.org/drawingml/2006/table">
            <a:tbl>
              <a:tblPr/>
              <a:tblGrid>
                <a:gridCol w="3017520"/>
                <a:gridCol w="4846320"/>
                <a:gridCol w="32004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Activo específico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Apple Silicon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Optimización conjunta software-hardware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Integración vertical del diseño de chips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Tesla / Gigafactory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Diseño de celdas para su arquitectura de vehículo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Integración vertical de baterías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Netflix / dispositivos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Baja especificidad (no es el activo central)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Subcontratación (Roku, Apple TV)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3.1a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3.1b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Derechos de propiedad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Grossman, Hart y Moore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del hold-up y la propiedad del activo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37160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2588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del activo confiere derechos de control residual que determinan el poder de negociación ex post; la integración es eficiente cuando maximiza los incentivos a la inversión específica de la parte cuya contribución es más difícil de contratar ex ante.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parte no propietaria del activo resultante anticipa que no podrá capturar el valor total de su inversión, invertirá menos de lo socialmente óptimo (problema de hold-up).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desarrollador externo de un algoritmo de ruteo para una plataforma de ride-hailing invertirá menos en refinarlo si no conserva ningún derecho sobre los datos generados una vez integrado — el argumento detrás de por qué las plataformas prefieren ADQUIRIR startups clave en vez de solo licenciar su tecnología.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3.1b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3.1c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Economías de alcance 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envolvimiento de plataformas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los casos: Amazon, Microsoft, Google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Economías de alcance y envolvimiento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C(q₁ + q₂)  &lt;  C(q₁) + C(q₂)      ⟺      economías de alcance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Envolvimiento de plataformas (Eisenmann, Parker y Van Alstyne, 2011):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dominante en el mercado A entra al mercado adyacente B aprovechando su base instalada común y sus economías de alcance en datos e infraestructura, sin incurrir en los costos de adquisición de usuarios que enfrentaría un entrante independiente.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64240" cy="16002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Plataforma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Mercado A (base)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Envolvimiento hacia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Microsoft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Windows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Internet Explorer (Lectura [1])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Google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Buscador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Android, Chrome, Assistant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Apple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iPhone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App Store, Apple Pay, Apple Music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3.1c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Amazon — de marketplace a infraestructura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integró verticalmente logística (Amazon Logistics), cómputo en la nube (AWS) y, más recientemente, modelos de IA (Amazon Bedrock), extrayendo economías de alcance del mismo activo subyacente: infraestructura de datos y cómputo a gran escala.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0881360" cy="210312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478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caso: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AWS —originalmente una capacidad interna— se convirtió en un negocio independiente rentable? ¿Qué nos dice esto sobre la especificidad de activos en cómputo distribuido frente a la de los datos de comportamiento del consumidor?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3.1c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digital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Destrucción creativa, el efecto de reemplazo y el dilema del innovador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efecto de reemplazo de Arrow (1962)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9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Δπ_incumbente = π_M^post − π_M^pre    &lt;    π_E^entrante − 0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el incumbente compara la ganancia incremental de innovar (que canibaliza su propia renta actual, ya positiva) contra la ganancia total del entrante (que parte de cero).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1064240" cy="12801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incumbente tiene, sistemáticamente, MENOR incentivo a innovar cuando la innovación amenaza su negocio vigente — la base formal del “dilema del innovador” (Christensen, 1997).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3.2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clásico: Kodak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283464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Kodak inventó la cámara digital en 1975 —en sus propios laboratorios— pero postergó su comercialización casi dos décadas por temor a canibalizar su rentable negocio de película fotográfica. Cuando finalmente compitió, otros fabricantes ya habían capturado la mayor parte de la demanda.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solidFill>
            <a:srgbClr val="1A3355"/>
          </a:solidFill>
          <a:ln w="12700">
            <a:solidFill>
              <a:srgbClr val="C997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fue un problema de capacidad técnica. Fue el efecto de reemplazo de Arrow operando literalmente: Δπ_Kodak (canibalización) resultó menor que π_entrante para quienes sí adoptaron la tecnología.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3.2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Blockbuster y Netflix: disrupción de demanda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 tuvo la oportunidad de adquirir Netflix en 2000 por 50 millones de dólares y la rechazó — el modelo de suscripción por correo canibalizaba directamente su negocio de renta en tienda con recargos por atraso.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(2016) — dos tipos de disrupción: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5349240" cy="17373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Disrupción de demanda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segmento de mercado — Netflix no compitió con mejor tecnología de video, sino con un modelo dirigido a quienes valoraban la conveniencia.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3840480"/>
            <a:ext cx="5440680" cy="17373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Disrupción de oferta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43434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tecnología dentro del mismo mercado — implicaciones estratégicas distintas para el incumbente que enfrenta cada tipo.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3.2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guiado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46888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dominante en pagos digitales evalúa envolver el mercado adyacente de crédito al consumo, aprovechando datos transaccionales ya recolectados. Modele el costo marginal del entrante especializado (c_E) frente al de la plataforma incumbente (c_I &lt; c_E, por economías de alcance en datos) y determine bajo qué condición de diferencial de costos (c_E − c_I) el entrante deja de ser viable (π_E ≤ 0).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Trabajen en parejas (3 minutos) antes de resolverlo juntos en el pizarrón.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paso a paso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051560"/>
            <a:ext cx="1042416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0515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Incumbente: costo marginal c_I &lt; c_E (economías de alcance en datos)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1984248"/>
            <a:ext cx="104241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98424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Precio límite sostenible: p ≈ c_E − ε (apenas por debajo del costo del entrante)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62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916936"/>
            <a:ext cx="1042416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916936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Entrante viable requiere: p ≥ c_E + m_E,  con m_E = F_E/Q_E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95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3849624"/>
            <a:ext cx="104241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849624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π_E ≤ 0  cuando:  (c_E − c_I)  ≥  F_E/Q_E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1064240" cy="118872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1947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mayor ventaja de costos del incumbente (c_E−c_I) y menor volumen esperado del entrante (Q_E) facilitan su exclusión mediante precios límite — sin ninguna práctica “depredatoria” explícita. Puente a la Sesión 4: regulación ex ante de gatekeepers.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173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vertical es óptima cuando los costos de coordinar vía mercado superan los de coordinar internamente (Coase, Williamson).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414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derechos de propiedad residuales determinan quién invierte de forma óptima cuando la contribución es difícil de contratar ex ante.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3558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46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economías de alcance en datos explican el envolvimiento de plataformas hacia mercados adyacentes.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2702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1605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 reemplazo de Arrow explica por qué los incumbentes postergan la innovación que canibaliza su negocio — por incentivos, no por capacidad.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1208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 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cerramos el curso con IA como predicción y regulación de mercados digitales. Revisar antes: Lectura complementaria [6].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2026-08-03T23:55:24Z</dcterms:created>
  <dcterms:modified xsi:type="dcterms:W3CDTF">2026-08-03T23:55:24Z</dcterms:modified>
</cp:coreProperties>
</file>